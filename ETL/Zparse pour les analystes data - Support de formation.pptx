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9h00. Tour de table de 15 minutes : outils utilisés (Excel, Power Query, Power BI, scripts), formats manipulés, attentes.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Prérequis : bonne pratique d'Excel. Les notions de JSON sont revues en séance. Chaque participant a un compte Zparse (le plan Free suffit).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Pauses : 10h30 - 10h45, 12h30 - 13h30, 15h00 - 15h15. Environ 35 % de théorie et 65 % de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 1, 09h15 - 10h30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: zparse.io et French Tech Bordeaux, consultés en septembre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citer un exemple vécu par chaque participant.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bloc s'appelle un node. Les données circulent de gauche à droite, d'une sortie vers une entrée.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mapping décrit la transformation. Le workflow décide quand et avec quelles données il s'exécute, et où part le résultat.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et le deuxième exemple correspondent au tutoriel 1 et à l'exercice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 relevée sur zparse.io et dans l'application en septembre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Tarifs publics, septembre 2026. Le plan Free limite à 2 workflows, soit exactement le nombre de workflows construits au jour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 1, 10h45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ouvrir la catégorie Transformations et parcourir Text, Math et Logical. Elles servent à l'exercice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Règle de nommage : v1.1 pour un ajout compatible (champ optionnel), v2.0 pour un changement qui casse le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 1, 11h15 - 16h30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Fichier tutoriel_catalogue_produits.xlsx, onglet Products. Objectif : un JSON avec le nom en majuscules et le code GTIN (colonne reference).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ce schéma projeté pendant la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Assisted mapping crée un mapping avec l'IA à partir d'un exemple. À montrer en fin de journée.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line = 2 pour sauter la ligne d'en-tête. L'aide de l'application parle d'une numérotation à partir de zéro, ce qui est trompeur. Avec 1, l'en-tête est lu comme un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String = texte, Number = nombre. Le type choisi ici détermine le format dans le JSON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la sortie du Casing à name et la sortie reference à gtin.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rond d'entrée sans lien signale un oubli.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L'icône oeil affiche le résumé et permet de télécharger le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Énoncé complet dans le guide participant. Fichiers : exercice1_commandes_webshop.xlsx et exercice1_cas_limites.xlsx.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Colonnes B (date_commande) et E (email) non affichées. 24 commandes, 1 ligne vide, 2 commandes annulées.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fichier de cas limites contient une quantité à 0, un pays vide, un nom avec apostrophe et espaces, un statut « Payée » avec majuscule, un order_id vide et une quantité écrite en toutes lettres.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projeter après le travail individuel.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Branche 1 : nom complet (Trim, Casing, Concatenate). Branche 2 : pays (Trim, Casing). Branche 3 : montant (Product, Round, Division). Branche 4 : filtre (Text condition). Les copies directes ne sont pas dessinées.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Ignore errors écarte les lignes qui ne passent pas (ligne vide, quantité en texte) sans bloquer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arrondit à l'entier. Pour 2 décimales : Product avec multiplicateur 100, Round, puis Division par 100. Relier quantite et prix_unitaire sur l'entrée du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L'erreur affichée correspond à la ligne vide. C'est normal. 24 commandes en sortie signifie que le filtre n'est pas relié.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Résultat relevé dans l'application en septembre 2026 : 5 commandes écrites, 1 erreur, 1 ligne retirée. Discuter en groupe des lignes à corriger en v1.1 (pays vide, order_id vide).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 2, 09h00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fichier Excel est envoyé à une URL. Zparse applique le mapping tuto-catalogue v1.0 et renvoie le JSON. Le lien Responder est souvent oublié. Sans lui, le JSON n'est pas renvoyé.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modèle « Simple web upload » donne un workflow proche. Le montrer après le tutoriel.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 execution data garde le détail de chaque exécution. Sans lui, le suivi est limité.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step by step exécute un node à la fois. Pratique pour 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Libellés relevés dans l'application en septembre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 2, 13h30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Bonus : ajouter Bruxelles et Namur (fichiers d'exemple fournis).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déclencheurs sur le même appel d'API : Periodic pour la production, Manual Run pour les tests. Le Periodic ne peut pas être lancé à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paramètres se saisissent dans Query parameters du node Request: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Periodic fonctionne par intervalle (minimum 10 minutes), compté depuis le départ du run précédent. Pour un passage vers 07h00, activer Running à 07h00.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saisir open-meteoo.com, relancer, cliquer sur Failed pour lire le message, puis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Free : 2 workflows maximum. Supprimer api-catalogue si un participant a besoin d'un troisième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Démonstration de 30 minutes avec le modèle de workflow « AI: Simple PDF Ingestion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Clôture 16h15 : tour de table, évaluation, attestations.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0.xml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1.xml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4.xml"/><Relationship Id="rId4" Type="http://schemas.openxmlformats.org/officeDocument/2006/relationships/image" Target="../media/image2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6.xml"/><Relationship Id="rId4" Type="http://schemas.openxmlformats.org/officeDocument/2006/relationships/image" Target="../media/image26.jpg"/><Relationship Id="rId5" Type="http://schemas.openxmlformats.org/officeDocument/2006/relationships/image" Target="../media/image27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7.xml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8.xml"/><Relationship Id="rId4" Type="http://schemas.openxmlformats.org/officeDocument/2006/relationships/image" Target="../media/image30.jpg"/><Relationship Id="rId5" Type="http://schemas.openxmlformats.org/officeDocument/2006/relationships/image" Target="../media/image3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2.xml"/><Relationship Id="rId4" Type="http://schemas.openxmlformats.org/officeDocument/2006/relationships/image" Target="../media/image3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4.xml"/><Relationship Id="rId4" Type="http://schemas.openxmlformats.org/officeDocument/2006/relationships/image" Target="../media/image33.jpg"/><Relationship Id="rId5" Type="http://schemas.openxmlformats.org/officeDocument/2006/relationships/image" Target="../media/image34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5.xml"/><Relationship Id="rId4" Type="http://schemas.openxmlformats.org/officeDocument/2006/relationships/image" Target="../media/image35.jpg"/><Relationship Id="rId5" Type="http://schemas.openxmlformats.org/officeDocument/2006/relationships/image" Target="../media/image36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6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540000"/>
            <a:ext cx="2340000" cy="10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8000" y="2232000"/>
            <a:ext cx="576000" cy="64800"/>
          </a:xfrm>
          <a:prstGeom prst="rect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2448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Barlow"/>
              </a:rPr>
              <a:t>SUPPORT DE 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808000"/>
            <a:ext cx="10080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Zen Maru Gothic"/>
              </a:rPr>
              <a:t>Zparse pour les analystes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4320000"/>
            <a:ext cx="936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B8B0DC"/>
                </a:solidFill>
                <a:latin typeface="Barlow"/>
              </a:rPr>
              <a:t>Transformer des fichiers de données sans écrire 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56160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B8B0DC"/>
                </a:solidFill>
                <a:latin typeface="Barlow"/>
              </a:rPr>
              <a:t>PRÉPARÉ POUR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5868000"/>
            <a:ext cx="43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Barlow"/>
              </a:rPr>
              <a:t>Formation de 2 jours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0" y="5616000"/>
            <a:ext cx="36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B8B0DC"/>
                </a:solidFill>
                <a:latin typeface="Barlow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0" y="5868000"/>
            <a:ext cx="3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Barlow"/>
              </a:rPr>
              <a:t>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Objectifs de la 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944000"/>
            <a:ext cx="10392119" cy="4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Comprendre ce que fait Zparse et quand l'utiliser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Construire un mapping qui transforme un fichier Excel en JSON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Tester un mapping et gérer ses versions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Automatiser un mapping dans un workflow (URL ou planning)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Lire le suivi des exécutions et corriger une erreur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Programme des deux jours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8000" y="1908000"/>
          <a:ext cx="1089612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9224"/>
                <a:gridCol w="4358448"/>
                <a:gridCol w="4358448"/>
              </a:tblGrid>
              <a:tr h="756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Zen Maru Gothic"/>
                        </a:rPr>
                        <a:t>Horaire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Zen Maru Gothic"/>
                        </a:rPr>
                        <a:t>Jour 1 - Mappings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Zen Maru Gothic"/>
                        </a:rPr>
                        <a:t>Jour 2 - Workflows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09h00 - 10h30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Zparse en bref, vocabulaire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Principe d'un workflow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10h45 - 12h30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Tutoriel 1 : catalogue produits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Tutoriel 2 : mapping derrière une URL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13h30 - 15h00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Tests, versions, exercice 1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Planning, appel d'API, suivi, exercice 2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15h15 - 16h30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Exercice 1 et correction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Exercice 2, usages IA, évaluation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756000"/>
            <a:ext cx="72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E1A6E"/>
                </a:solidFill>
                <a:latin typeface="Zen Maru Gothic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800000"/>
            <a:ext cx="90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3AB67"/>
                </a:solidFill>
                <a:latin typeface="Zen Mar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1890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Zen Maru Gothic"/>
              </a:rPr>
              <a:t>Zparse en bref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2394000"/>
            <a:ext cx="8640000" cy="10800"/>
          </a:xfrm>
          <a:prstGeom prst="rect">
            <a:avLst/>
          </a:prstGeom>
          <a:solidFill>
            <a:srgbClr val="E3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2610000"/>
            <a:ext cx="90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3AB67"/>
                </a:solidFill>
                <a:latin typeface="Zen Maru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2700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Zen Maru Gothic"/>
              </a:rPr>
              <a:t>Les mappings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0" y="3204000"/>
            <a:ext cx="8640000" cy="10800"/>
          </a:xfrm>
          <a:prstGeom prst="rect">
            <a:avLst/>
          </a:prstGeom>
          <a:solidFill>
            <a:srgbClr val="E3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3420000"/>
            <a:ext cx="90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0" y="3510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Zen Maru Gothic"/>
              </a:rPr>
              <a:t>Tutoriel 1 et exercice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0" y="4014000"/>
            <a:ext cx="8640000" cy="10800"/>
          </a:xfrm>
          <a:prstGeom prst="rect">
            <a:avLst/>
          </a:prstGeom>
          <a:solidFill>
            <a:srgbClr val="E3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" y="4230000"/>
            <a:ext cx="90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3AB67"/>
                </a:solidFill>
                <a:latin typeface="Zen Maru Gothic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0" y="4320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Zen Maru Gothic"/>
              </a:rPr>
              <a:t>Les workflows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4824000"/>
            <a:ext cx="8640000" cy="10800"/>
          </a:xfrm>
          <a:prstGeom prst="rect">
            <a:avLst/>
          </a:prstGeom>
          <a:solidFill>
            <a:srgbClr val="E3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00" y="5040000"/>
            <a:ext cx="90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3AB67"/>
                </a:solidFill>
                <a:latin typeface="Zen Maru Gothic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000" y="5130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Zen Maru Gothic"/>
              </a:rPr>
              <a:t>Exercice 2 et usages 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0000" y="5634000"/>
            <a:ext cx="8640000" cy="10800"/>
          </a:xfrm>
          <a:prstGeom prst="rect">
            <a:avLst/>
          </a:prstGeom>
          <a:solidFill>
            <a:srgbClr val="E3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AB6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all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1620000"/>
            <a:ext cx="3600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Zen Mar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3456000"/>
            <a:ext cx="1008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Zen Maru Gothic"/>
              </a:rPr>
              <a:t>Zparse en bref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4464000"/>
            <a:ext cx="936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Barlow"/>
              </a:rPr>
              <a:t>Ce que fait l'outil et quand l'utiliser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6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8000" y="1655999"/>
            <a:ext cx="576000" cy="64800"/>
          </a:xfrm>
          <a:prstGeom prst="rect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72000"/>
            <a:ext cx="1008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Zen Maru Gothic"/>
              </a:rPr>
              <a:t>Zparse transforme des fichiers de données sans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3384000"/>
            <a:ext cx="9360000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>Zparse est un outil en ligne. Il lit un fichier (Excel, CSV, JSON, XML, PDF), transforme les données et écrit un nouveau fichier ou les envoie vers un autre logiciel.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/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>La construction se fait à la souris, en reliant des blocs. Aucun script n'est écrit.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/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>Zparse est édité par une société française basée à Bordeaux, lancée en 2025. Les données sont hébergées dans l'Union européenne.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B8B0DC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B8B0DC"/>
                </a:solidFill>
                <a:latin typeface="Barlo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Le problème que Zparse résout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8000" y="1908000"/>
          <a:ext cx="10896118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059"/>
                <a:gridCol w="5448059"/>
              </a:tblGrid>
              <a:tr h="7560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Zen Maru Gothic"/>
                        </a:rPr>
                        <a:t>Aujourd'hui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Zen Maru Gothic"/>
                        </a:rPr>
                        <a:t>Avec Zparse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E1A6E"/>
                          </a:solidFill>
                          <a:latin typeface="Barlow"/>
                        </a:rPr>
                        <a:t>Les exports sont retravaillés à la main dans Excel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3A3A48"/>
                          </a:solidFill>
                          <a:latin typeface="Barlow"/>
                        </a:rPr>
                        <a:t>Les règles sont définies une fois et rejouées à chaque fichier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E1A6E"/>
                          </a:solidFill>
                          <a:latin typeface="Barlow"/>
                        </a:rPr>
                        <a:t>Chaque changement de format demande l'aide de l'IT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3A3A48"/>
                          </a:solidFill>
                          <a:latin typeface="Barlow"/>
                        </a:rPr>
                        <a:t>L'analyste modifie lui-même le mapping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E1A6E"/>
                          </a:solidFill>
                          <a:latin typeface="Barlow"/>
                        </a:rPr>
                        <a:t>Les erreurs de copier-coller passent inaperçues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3A3A48"/>
                          </a:solidFill>
                          <a:latin typeface="Barlow"/>
                        </a:rPr>
                        <a:t>Chaque exécution affiche les lignes en succès et en erreur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E1A6E"/>
                          </a:solidFill>
                          <a:latin typeface="Barlow"/>
                        </a:rPr>
                        <a:t>Le traitement dépend d'une personne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3A3A48"/>
                          </a:solidFill>
                          <a:latin typeface="Barlow"/>
                        </a:rPr>
                        <a:t>Le traitement tourne seul (URL ou planning)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Un mapping enchaîne cinq types de blocs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" y="2968495"/>
            <a:ext cx="10953719" cy="19110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hema_concept_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997295"/>
            <a:ext cx="10896119" cy="18534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6156000"/>
            <a:ext cx="10896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A8A98"/>
                </a:solidFill>
                <a:latin typeface="Barlow"/>
              </a:rPr>
              <a:t>Un node = un bloc de l'éditeur. Un lien = une flèche tirée d'une sortie vers une entrée.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Un workflow déclenche le mapping automatiquement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" y="2634882"/>
            <a:ext cx="10953719" cy="2578235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hema_concept_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663682"/>
            <a:ext cx="10896119" cy="2520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6156000"/>
            <a:ext cx="10896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A8A98"/>
                </a:solidFill>
                <a:latin typeface="Barlow"/>
              </a:rPr>
              <a:t>Mapping = les règles de transformation. Workflow = leur exécution automatique.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Vocabulaire utilisé pendant la 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8000" y="1908000"/>
          <a:ext cx="10896118" cy="40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458"/>
                <a:gridCol w="5345266"/>
                <a:gridCol w="3289394"/>
              </a:tblGrid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Zen Maru Gothic"/>
                        </a:rPr>
                        <a:t>Terme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Zen Maru Gothic"/>
                        </a:rPr>
                        <a:t>Définition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Zen Maru Gothic"/>
                        </a:rPr>
                        <a:t>Exemple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Mapping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Ensemble de règles qui transforme un fichier en un autre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Commandes Excel vers JSON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Node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Bloc de l'éditeur qui fait une seule opération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Text : Casing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Reader / Writer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Node qui lit le fichier source / écrit le fichier cible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Excel Line Reader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Data Model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Description de la structure du résultat (clés et types)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name (String)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Sample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Fichier de test enregistré pour rejouer le mapping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commandes_nominal.xlsx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Version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Copie figée d'un mapping (draft, v1.0, v1.1)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v1.0 en production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Workflow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Enchaînement automatique : déclencheur, mapping, destination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API catalogue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Trois exemples d'usage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1908000"/>
            <a:ext cx="3440039" cy="417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2000" y="2196000"/>
            <a:ext cx="503999" cy="503999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2000" y="2196000"/>
            <a:ext cx="503999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Zen Maru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0" y="2916000"/>
            <a:ext cx="279203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2E1A6E"/>
                </a:solidFill>
                <a:latin typeface="Zen Maru Gothic"/>
              </a:rPr>
              <a:t>Catalogue e-commerce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000" y="3671999"/>
            <a:ext cx="279203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3A3A48"/>
                </a:solidFill>
                <a:latin typeface="Barlow"/>
              </a:rPr>
              <a:t>Un fichier fournisseur Excel est converti chaque jour au format attendu par la boutique en ligne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6040" y="1908000"/>
            <a:ext cx="3440039" cy="417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0040" y="2196000"/>
            <a:ext cx="503999" cy="503999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40" y="2196000"/>
            <a:ext cx="503999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Zen Mar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40" y="2916000"/>
            <a:ext cx="279203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2E1A6E"/>
                </a:solidFill>
                <a:latin typeface="Zen Maru Gothic"/>
              </a:rPr>
              <a:t>Commandes et logistique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40" y="3671999"/>
            <a:ext cx="279203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3A3A48"/>
                </a:solidFill>
                <a:latin typeface="Barlow"/>
              </a:rPr>
              <a:t>Les commandes exportées du webshop sont nettoyées puis envoyées au logisticien en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4080" y="1908000"/>
            <a:ext cx="3440039" cy="417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28080" y="2196000"/>
            <a:ext cx="503999" cy="503999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8080" y="2196000"/>
            <a:ext cx="503999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Zen Maru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8080" y="2916000"/>
            <a:ext cx="279203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2E1A6E"/>
                </a:solidFill>
                <a:latin typeface="Zen Maru Gothic"/>
              </a:rPr>
              <a:t>Documents pour l'IA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8080" y="3671999"/>
            <a:ext cx="279203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3A3A48"/>
                </a:solidFill>
                <a:latin typeface="Barlow"/>
              </a:rPr>
              <a:t>Des PDF sont lus, découpés et envoyés vers une base utilisée par un assistant 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Formats et connecteurs disponibles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8000" y="1908000"/>
          <a:ext cx="10896119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4314"/>
                <a:gridCol w="8301805"/>
              </a:tblGrid>
              <a:tr h="756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Zen Maru Gothic"/>
                        </a:rPr>
                        <a:t>Catégorie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Zen Maru Gothic"/>
                        </a:rPr>
                        <a:t>Éléments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Formats lus et écrits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Excel (plusieurs onglets), CSV, JSON, JSONL, XML, PDF, Markdown, Parquet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Sources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Upload de fichier, URL (endpoint), API, Google Sheet, Google Drive, SharePoint, S3, SFTP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Destinations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Fichier en réponse, API, Google BigQuery, Pennylane, Slack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Destinations IA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Qdrant, Weaviate, Pinecone, pgvector, Elasticsearch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Tarifs : le plan Free suffit pour la 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8000" y="1908000"/>
          <a:ext cx="10896117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1359"/>
                <a:gridCol w="2824919"/>
                <a:gridCol w="3228480"/>
                <a:gridCol w="2421359"/>
              </a:tblGrid>
              <a:tr h="756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Zen Maru Gothic"/>
                        </a:rPr>
                        <a:t>Plan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Zen Maru Gothic"/>
                        </a:rPr>
                        <a:t>Prix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Zen Maru Gothic"/>
                        </a:rPr>
                        <a:t>Exécutions / mois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Zen Maru Gothic"/>
                        </a:rPr>
                        <a:t>Workflows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E1A6E"/>
                          </a:solidFill>
                          <a:latin typeface="Barlow"/>
                        </a:rPr>
                        <a:t>Free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3A3A48"/>
                          </a:solidFill>
                          <a:latin typeface="Barlow"/>
                        </a:rPr>
                        <a:t>0 €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3A3A48"/>
                          </a:solidFill>
                          <a:latin typeface="Barlow"/>
                        </a:rPr>
                        <a:t>1 000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3A3A48"/>
                          </a:solidFill>
                          <a:latin typeface="Barlow"/>
                        </a:rPr>
                        <a:t>2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E1A6E"/>
                          </a:solidFill>
                          <a:latin typeface="Barlow"/>
                        </a:rPr>
                        <a:t>Builder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3A3A48"/>
                          </a:solidFill>
                          <a:latin typeface="Barlow"/>
                        </a:rPr>
                        <a:t>29 € / mois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3A3A48"/>
                          </a:solidFill>
                          <a:latin typeface="Barlow"/>
                        </a:rPr>
                        <a:t>5 000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3A3A48"/>
                          </a:solidFill>
                          <a:latin typeface="Barlow"/>
                        </a:rPr>
                        <a:t>5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E1A6E"/>
                          </a:solidFill>
                          <a:latin typeface="Barlow"/>
                        </a:rPr>
                        <a:t>Builder+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3A3A48"/>
                          </a:solidFill>
                          <a:latin typeface="Barlow"/>
                        </a:rPr>
                        <a:t>89 € / mois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3A3A48"/>
                          </a:solidFill>
                          <a:latin typeface="Barlow"/>
                        </a:rPr>
                        <a:t>10 000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3A3A48"/>
                          </a:solidFill>
                          <a:latin typeface="Barlow"/>
                        </a:rPr>
                        <a:t>25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AB6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all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1620000"/>
            <a:ext cx="3600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Zen Mar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3456000"/>
            <a:ext cx="1008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Zen Maru Gothic"/>
              </a:rPr>
              <a:t>Les mappings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4464000"/>
            <a:ext cx="936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Barlow"/>
              </a:rPr>
              <a:t>Construire, tester et versionner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L'éditeur de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" y="2232805"/>
            <a:ext cx="7437600" cy="35263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panneau_sourc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261605"/>
            <a:ext cx="7380000" cy="346878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388000" y="1872000"/>
            <a:ext cx="324000" cy="324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8000" y="18720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Zen Mar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6000" y="1890000"/>
            <a:ext cx="2688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À gauche : la liste des nodes (Sources, Transformations, Destinations)</a:t>
            </a:r>
          </a:p>
        </p:txBody>
      </p:sp>
      <p:sp>
        <p:nvSpPr>
          <p:cNvPr id="12" name="Oval 11"/>
          <p:cNvSpPr/>
          <p:nvPr/>
        </p:nvSpPr>
        <p:spPr>
          <a:xfrm>
            <a:off x="8388000" y="2876400"/>
            <a:ext cx="324000" cy="324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8000" y="28764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Zen Mar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6000" y="2894400"/>
            <a:ext cx="2688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Au centre : le canevas, où les nodes sont posés et reliés</a:t>
            </a:r>
          </a:p>
        </p:txBody>
      </p:sp>
      <p:sp>
        <p:nvSpPr>
          <p:cNvPr id="15" name="Oval 14"/>
          <p:cNvSpPr/>
          <p:nvPr/>
        </p:nvSpPr>
        <p:spPr>
          <a:xfrm>
            <a:off x="8388000" y="3880800"/>
            <a:ext cx="324000" cy="324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8000" y="38808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Zen Mar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6000" y="3898800"/>
            <a:ext cx="2688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À droite : le panneau de réglage du node sélectionné</a:t>
            </a:r>
          </a:p>
        </p:txBody>
      </p:sp>
      <p:sp>
        <p:nvSpPr>
          <p:cNvPr id="18" name="Oval 17"/>
          <p:cNvSpPr/>
          <p:nvPr/>
        </p:nvSpPr>
        <p:spPr>
          <a:xfrm>
            <a:off x="8388000" y="4885200"/>
            <a:ext cx="324000" cy="324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8000" y="48852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Zen Mar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6000" y="4903200"/>
            <a:ext cx="2688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En haut : Run mapping pour tester, et le menu des versions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Les fonctions utilisées pendant la 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8000" y="1908000"/>
          <a:ext cx="10896119" cy="4085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0807"/>
                <a:gridCol w="4892135"/>
                <a:gridCol w="3113177"/>
              </a:tblGrid>
              <a:tr h="58371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Zen Maru Gothic"/>
                        </a:rPr>
                        <a:t>Besoin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Zen Maru Gothic"/>
                        </a:rPr>
                        <a:t>Node Zparse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Zen Maru Gothic"/>
                        </a:rPr>
                        <a:t>Exemple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</a:tr>
              <a:tr h="58371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Mettre en majuscules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Text : Casing (mode Upper)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dupont » DUPONT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58371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Supprimer les espaces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Text : Trim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« Be  » » « Be »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58371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Assembler deux textes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Text : Concatenate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Marie + DUPONT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58371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Multiplier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Math : Product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quantité x prix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58371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Arrondir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Math : Round puis Math : Division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269.97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58371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Filtrer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Logical : Text condition + Logical : Filter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statut = payée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Tester et versionner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1908000"/>
            <a:ext cx="5256000" cy="417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8000" y="1908000"/>
            <a:ext cx="79200" cy="4176000"/>
          </a:xfrm>
          <a:prstGeom prst="rect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7999" y="2124000"/>
            <a:ext cx="46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2E1A6E"/>
                </a:solidFill>
                <a:latin typeface="Zen Maru Gothic"/>
              </a:rPr>
              <a:t>Tester avec un 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999" y="2700000"/>
            <a:ext cx="4608000" cy="331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Run mapping, déposer le fichier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Activer « Save your file as a sample »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Relancer avec le bouton replay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Un sample par cas testé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2000" y="1908000"/>
            <a:ext cx="5256000" cy="417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2000" y="1908000"/>
            <a:ext cx="79200" cy="4176000"/>
          </a:xfrm>
          <a:prstGeom prst="rect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2000" y="2124000"/>
            <a:ext cx="46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2E1A6E"/>
                </a:solidFill>
                <a:latin typeface="Zen Maru Gothic"/>
              </a:rPr>
              <a:t>Figer une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2000" y="2700000"/>
            <a:ext cx="4608000" cy="331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Travailler dans le draft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Bouton copie à droite de draft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Saisir v1.0 puis Copy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Le workflow utilise la version figée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AB6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all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1620000"/>
            <a:ext cx="3600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3456000"/>
            <a:ext cx="1008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Zen Maru Gothic"/>
              </a:rPr>
              <a:t>Tutoriel 1 et exercice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4464000"/>
            <a:ext cx="936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Barlow"/>
              </a:rPr>
              <a:t>Du fichier Excel au 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Tutoriel 1 : le fichier de départ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835999"/>
            <a:ext cx="10392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A3A48"/>
                </a:solidFill>
                <a:latin typeface="Barlow"/>
              </a:rPr>
              <a:t>Onglet Products, ligne 1 = en-têtes, 10 produits.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8000" y="2304000"/>
          <a:ext cx="10896118" cy="36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7282"/>
                <a:gridCol w="2442233"/>
                <a:gridCol w="2817962"/>
                <a:gridCol w="1878641"/>
              </a:tblGrid>
              <a:tr h="738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Zen Maru Gothic"/>
                        </a:rPr>
                        <a:t>name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Zen Maru Gothic"/>
                        </a:rPr>
                        <a:t>category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Zen Maru Gothic"/>
                        </a:rPr>
                        <a:t>reference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Zen Maru Gothic"/>
                        </a:rPr>
                        <a:t>price_eur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</a:tr>
              <a:tr h="738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Clavier sans fil K120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Périphériques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5410000000017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24.9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738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Souris ergonomique M720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Périphériques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5410000000024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49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738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Écran 27 pouces QHD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Écrans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5410000000031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289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738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... (10 produits)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/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/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/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Tutoriel 1 : le schéma à construire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" y="2752864"/>
            <a:ext cx="10953719" cy="234227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hema_tutoriel_j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781664"/>
            <a:ext cx="10896119" cy="22846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6156000"/>
            <a:ext cx="10896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A8A98"/>
                </a:solidFill>
                <a:latin typeface="Barlow"/>
              </a:rPr>
              <a:t>Résultat attendu : tutoriel_resultat_attendu.json (10 produits)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Étape 1 : créer un mapping vierge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" y="2232805"/>
            <a:ext cx="7437600" cy="35263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nom_blan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261605"/>
            <a:ext cx="7380000" cy="346878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388000" y="1872000"/>
            <a:ext cx="324000" cy="324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8000" y="18720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Zen Mar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6000" y="1890000"/>
            <a:ext cx="2688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3A3A48"/>
                </a:solidFill>
                <a:latin typeface="Barlow"/>
              </a:rPr>
              <a:t>Menu Mappings, puis New mapping</a:t>
            </a:r>
          </a:p>
        </p:txBody>
      </p:sp>
      <p:sp>
        <p:nvSpPr>
          <p:cNvPr id="12" name="Oval 11"/>
          <p:cNvSpPr/>
          <p:nvPr/>
        </p:nvSpPr>
        <p:spPr>
          <a:xfrm>
            <a:off x="8388000" y="2682000"/>
            <a:ext cx="324000" cy="324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8000" y="26820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Zen Mar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6000" y="2700000"/>
            <a:ext cx="2688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3A3A48"/>
                </a:solidFill>
                <a:latin typeface="Barlow"/>
              </a:rPr>
              <a:t>Nom : tuto-catalogue</a:t>
            </a:r>
          </a:p>
        </p:txBody>
      </p:sp>
      <p:sp>
        <p:nvSpPr>
          <p:cNvPr id="15" name="Oval 14"/>
          <p:cNvSpPr/>
          <p:nvPr/>
        </p:nvSpPr>
        <p:spPr>
          <a:xfrm>
            <a:off x="8388000" y="3249000"/>
            <a:ext cx="324000" cy="324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8000" y="32490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Zen Mar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6000" y="3267000"/>
            <a:ext cx="2688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3A3A48"/>
                </a:solidFill>
                <a:latin typeface="Barlow"/>
              </a:rPr>
              <a:t>Choisir Blank mapping</a:t>
            </a:r>
          </a:p>
        </p:txBody>
      </p:sp>
      <p:sp>
        <p:nvSpPr>
          <p:cNvPr id="18" name="Oval 17"/>
          <p:cNvSpPr/>
          <p:nvPr/>
        </p:nvSpPr>
        <p:spPr>
          <a:xfrm>
            <a:off x="8388000" y="3816000"/>
            <a:ext cx="324000" cy="324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8000" y="38160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Zen Mar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6000" y="3834000"/>
            <a:ext cx="2688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3A3A48"/>
                </a:solidFill>
                <a:latin typeface="Barlow"/>
              </a:rPr>
              <a:t>Cliquer sur Start mapping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Étape 2 : lire l'onglet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3818" y="1771200"/>
            <a:ext cx="4212423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reader_config_vide_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618" y="1800000"/>
            <a:ext cx="4154823" cy="392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Glisser Excel Line Reader sur le canevas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1260" y="2813320"/>
            <a:ext cx="5361659" cy="1897359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3_startlin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59" y="2842120"/>
            <a:ext cx="5304059" cy="18397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0059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Sheet name : Products, Start line :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Étape 3 : extraire les colonnes utiles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" y="2012200"/>
            <a:ext cx="4197600" cy="396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extract_rempli_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041000"/>
            <a:ext cx="4140000" cy="3910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148000" y="1872000"/>
            <a:ext cx="324000" cy="324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48000" y="18720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Zen Mar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6000" y="1890000"/>
            <a:ext cx="5928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Bouton + sur la sortie Excel Row</a:t>
            </a:r>
          </a:p>
        </p:txBody>
      </p:sp>
      <p:sp>
        <p:nvSpPr>
          <p:cNvPr id="12" name="Oval 11"/>
          <p:cNvSpPr/>
          <p:nvPr/>
        </p:nvSpPr>
        <p:spPr>
          <a:xfrm>
            <a:off x="5148000" y="2422800"/>
            <a:ext cx="324000" cy="324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00" y="24228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Zen Mar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6000" y="2440800"/>
            <a:ext cx="5928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Choisir Excel : Extract values from row</a:t>
            </a:r>
          </a:p>
        </p:txBody>
      </p:sp>
      <p:sp>
        <p:nvSpPr>
          <p:cNvPr id="15" name="Oval 14"/>
          <p:cNvSpPr/>
          <p:nvPr/>
        </p:nvSpPr>
        <p:spPr>
          <a:xfrm>
            <a:off x="5148000" y="2973600"/>
            <a:ext cx="324000" cy="324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00" y="29736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Zen Mar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6000" y="2991600"/>
            <a:ext cx="5928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Colonne A, label name, type String</a:t>
            </a:r>
          </a:p>
        </p:txBody>
      </p:sp>
      <p:sp>
        <p:nvSpPr>
          <p:cNvPr id="18" name="Oval 17"/>
          <p:cNvSpPr/>
          <p:nvPr/>
        </p:nvSpPr>
        <p:spPr>
          <a:xfrm>
            <a:off x="5148000" y="3524399"/>
            <a:ext cx="324000" cy="324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00" y="3524399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Zen Mar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6000" y="3542400"/>
            <a:ext cx="5928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Colonne C, label reference, type Number</a:t>
            </a:r>
          </a:p>
        </p:txBody>
      </p:sp>
      <p:sp>
        <p:nvSpPr>
          <p:cNvPr id="21" name="Oval 20"/>
          <p:cNvSpPr/>
          <p:nvPr/>
        </p:nvSpPr>
        <p:spPr>
          <a:xfrm>
            <a:off x="5148000" y="4075199"/>
            <a:ext cx="324000" cy="324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8000" y="4075199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Zen Maru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6000" y="4093199"/>
            <a:ext cx="5928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Cliquer sur Create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Étape 4 : mettre en majuscules et décrire le résultat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" y="2071870"/>
            <a:ext cx="5361659" cy="338025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casing_config_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100670"/>
            <a:ext cx="5304059" cy="33226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Text : Casing, mode Upper, sur 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3033" y="1771200"/>
            <a:ext cx="3258112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5_datamodel_config_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833" y="1800000"/>
            <a:ext cx="3200512" cy="392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0059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JSON : Data Model avec name (String) et gtin (Number)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Étape 5 : écrire le JSON et vérifier le graphe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3509" y="1771200"/>
            <a:ext cx="3553040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7_writer_config_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309" y="1800000"/>
            <a:ext cx="3495440" cy="392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JSON Elements writer, JSON path : products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1260" y="2486678"/>
            <a:ext cx="5361659" cy="2550643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8_graphe_comple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59" y="2515478"/>
            <a:ext cx="5304059" cy="24930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0059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Graphe complet : 5 nodes reliés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Étape 6 : tester le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4516" y="1771200"/>
            <a:ext cx="3571027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0_run_sample_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316" y="1800000"/>
            <a:ext cx="3513427" cy="392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Run mapping, déposer le fichier, enregistrer le sample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1260" y="2486678"/>
            <a:ext cx="5361659" cy="2550643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4_run_succ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59" y="2515478"/>
            <a:ext cx="5304059" cy="24930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0059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Résultat : Success en haut à droite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Tutoriel 1 : le résultat attendu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944000"/>
            <a:ext cx="4500000" cy="39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10 produits dans products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Noms en majuscules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gtin sans guillemets (type Number)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Figer ensuite la version v1.0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72000" y="1908000"/>
            <a:ext cx="6072119" cy="4248000"/>
          </a:xfrm>
          <a:prstGeom prst="roundRect">
            <a:avLst>
              <a:gd name="adj" fmla="val 3000"/>
            </a:avLst>
          </a:prstGeom>
          <a:solidFill>
            <a:srgbClr val="2E1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24000" y="2124000"/>
            <a:ext cx="5568120" cy="38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urier New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urier New"/>
              </a:rPr>
              <a:t>  "products": [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urier New"/>
              </a:rPr>
              <a:t>   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urier New"/>
              </a:rPr>
              <a:t>      "name": "CLAVIER SANS FIL K120",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urier New"/>
              </a:rPr>
              <a:t>      "gtin": 5410000000017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urier New"/>
              </a:rPr>
              <a:t>    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urier New"/>
              </a:rPr>
              <a:t>   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urier New"/>
              </a:rPr>
              <a:t>      "name": "SOURIS ERGONOMIQUE M720",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urier New"/>
              </a:rPr>
              <a:t>      "gtin": 5410000000024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urier New"/>
              </a:rPr>
              <a:t>    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urier New"/>
              </a:rPr>
              <a:t>    ...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urier New"/>
              </a:rPr>
              <a:t>  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6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8000" y="1655999"/>
            <a:ext cx="576000" cy="64800"/>
          </a:xfrm>
          <a:prstGeom prst="rect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72000"/>
            <a:ext cx="1008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Zen Maru Gothic"/>
              </a:rPr>
              <a:t>Exercice 1 : les commandes du webshop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3384000"/>
            <a:ext cx="9360000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>Un webshop exporte chaque jour ses commandes dans Excel. Le logisticien veut un JSON propre : noms nettoyés, pays en majuscules, montant de chaque ligne calculé, commandes annulées retirées.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/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>Durée : 1h45, dont 20 minutes de correction. Travail individuel.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B8B0DC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B8B0DC"/>
                </a:solidFill>
                <a:latin typeface="Barlow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Exercice 1 : le fichier de départ (extrait)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835999"/>
            <a:ext cx="10392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A3A48"/>
                </a:solidFill>
                <a:latin typeface="Barlow"/>
              </a:rPr>
              <a:t>Onglet Commandes, 24 commandes. Les défauts sont volontaires.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8000" y="2304000"/>
          <a:ext cx="10896118" cy="36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1881"/>
                <a:gridCol w="1343357"/>
                <a:gridCol w="1492619"/>
                <a:gridCol w="895571"/>
                <a:gridCol w="1492619"/>
                <a:gridCol w="1194095"/>
                <a:gridCol w="1492619"/>
                <a:gridCol w="1343357"/>
              </a:tblGrid>
              <a:tr h="615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Zen Maru Gothic"/>
                        </a:rPr>
                        <a:t>order_id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Zen Maru Gothic"/>
                        </a:rPr>
                        <a:t>prenom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Zen Maru Gothic"/>
                        </a:rPr>
                        <a:t>nom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Zen Maru Gothic"/>
                        </a:rPr>
                        <a:t>pays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Zen Maru Gothic"/>
                        </a:rPr>
                        <a:t>sku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Zen Maru Gothic"/>
                        </a:rPr>
                        <a:t>quantite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Zen Maru Gothic"/>
                        </a:rPr>
                        <a:t>prix_unitaire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Zen Maru Gothic"/>
                        </a:rPr>
                        <a:t>statut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</a:tr>
              <a:tr h="615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A6E"/>
                          </a:solidFill>
                          <a:latin typeface="Barlow"/>
                        </a:rPr>
                        <a:t>WEB-1001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Marie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Dupont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lu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SKU-E27Q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1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289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payée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615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A6E"/>
                          </a:solidFill>
                          <a:latin typeface="Barlow"/>
                        </a:rPr>
                        <a:t>WEB-1003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Sofia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Martins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Be 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SKU-HEAD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1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89.99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payée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615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A6E"/>
                          </a:solidFill>
                          <a:latin typeface="Barlow"/>
                        </a:rPr>
                        <a:t>WEB-1004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 Thomas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Lambert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be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SKU-HEAD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1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89.99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payée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615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A6E"/>
                          </a:solidFill>
                          <a:latin typeface="Barlow"/>
                        </a:rPr>
                        <a:t>WEB-1007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Julie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Renard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lu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SKU-K120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5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24.9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annulée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615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A6E"/>
                          </a:solidFill>
                          <a:latin typeface="Barlow"/>
                        </a:rPr>
                        <a:t>WEB-1010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Hugo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Leclercq  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lu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SKU-HEAD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5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89.99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A3A48"/>
                          </a:solidFill>
                          <a:latin typeface="Barlow"/>
                        </a:rPr>
                        <a:t>payée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Exercice 1 : les règles à appliquer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8000" y="1908000"/>
          <a:ext cx="10896118" cy="40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199"/>
                <a:gridCol w="2954880"/>
                <a:gridCol w="5171039"/>
              </a:tblGrid>
              <a:tr h="454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Zen Maru Gothic"/>
                        </a:rPr>
                        <a:t>Champ du JSON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Zen Maru Gothic"/>
                        </a:rPr>
                        <a:t>Source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Zen Maru Gothic"/>
                        </a:rPr>
                        <a:t>Règle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</a:tr>
              <a:tr h="454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orderReference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order_id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Copie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454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orderDate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date_commande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Copie (déjà au format AAAA-MM-JJ)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454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customer.fullName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prenom + nom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Espaces retirés, nom en majuscules, un espace entre les deux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454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customer.email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email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Copie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454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customer.country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pays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Espaces retirés, majuscules (be » BE)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454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line.sku, quantity, unitPrice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sku, quantite, prix_unitaire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Copie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454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line.totalPrice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quantite x prix_unitaire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Arrondi à 2 décimales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454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(filtre)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statut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Garder seulement les commandes payées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Exercice 1 : le format attendu par le logisticien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944000"/>
            <a:ext cx="4500000" cy="39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Un objet par commande dans orders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customer et line sont des sous-objets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Contrôle : 22 commandes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Contrôle : total 5 080,66 €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72000" y="1908000"/>
            <a:ext cx="6072119" cy="4248000"/>
          </a:xfrm>
          <a:prstGeom prst="roundRect">
            <a:avLst>
              <a:gd name="adj" fmla="val 3000"/>
            </a:avLst>
          </a:prstGeom>
          <a:solidFill>
            <a:srgbClr val="2E1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24000" y="2124000"/>
            <a:ext cx="5568120" cy="38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"orders": [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  "orderReference": "WEB-1001",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  "orderDate": "2026-09-01",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  "customer":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    "fullName": "Marie DUPONT",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    "email": "marie.dupont@exemple.be",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    "country": "LU"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  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  "line":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    "sku": "SKU-E27Q",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    "quantity": 1,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    "unitPrice": 289,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    "totalPrice": 289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  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Exercice 1 : ce qui est demandé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944000"/>
            <a:ext cx="10392119" cy="4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Un mapping « commandes-logistique » figé en v1.0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Le sample « nominal » : exercice1_commandes_webshop.xlsx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Le sample « cas-limites » : exercice1_cas_limites.xlsx (7 lignes piégées)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Une v1.1 qui ajoute le champ status, sans toucher au reste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Contrôle : 22 commandes et 5 080,66 € sur le fichier nominal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6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8000" y="1655999"/>
            <a:ext cx="576000" cy="64800"/>
          </a:xfrm>
          <a:prstGeom prst="rect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72000"/>
            <a:ext cx="1008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Zen Maru Gothic"/>
              </a:rPr>
              <a:t>Corrigé de l'exercice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3384000"/>
            <a:ext cx="9360000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>Les diapositives suivantes montrent le mapping de référence, construit et testé dans Zparse.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/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>17 nodes. 22 commandes. 5 080,66 €.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B8B0DC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B8B0DC"/>
                </a:solidFill>
                <a:latin typeface="Barlow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Corrigé : quatre branches qui se rejoignent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" y="2400599"/>
            <a:ext cx="10953719" cy="3046801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hema_exercic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429399"/>
            <a:ext cx="10896119" cy="29892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6156000"/>
            <a:ext cx="10896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A8A98"/>
                </a:solidFill>
                <a:latin typeface="Barlow"/>
              </a:rPr>
              <a:t>Copies directes non dessinées : orderReference, orderDate, email, sku, quantity, unitPrice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Corrigé : extraction et filtre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1881590" y="1771200"/>
            <a:ext cx="2836878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0_ex1_extract_confi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0390" y="1800000"/>
            <a:ext cx="2779278" cy="392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10 colonnes, H et I en Number, Ignore errors activé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1260" y="1944857"/>
            <a:ext cx="5361659" cy="36342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1_ex1_text_condit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59" y="1973657"/>
            <a:ext cx="5304059" cy="35766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0059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Text condition : statut Equals « payée 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Corrigé : nom complet et montant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391" y="1771200"/>
            <a:ext cx="4397277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3_ex1_concatena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1" y="1800000"/>
            <a:ext cx="4339677" cy="392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Concatenate : prenom + nom, Add whitespace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69869" y="1771200"/>
            <a:ext cx="2844440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2_ex1_divis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669" y="1800000"/>
            <a:ext cx="2786840" cy="392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0059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Division par 100 après Product x100 et Round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Corrigé : structure et contrôle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4411" y="1771200"/>
            <a:ext cx="2871237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6_ex1_dm_or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3211" y="1800000"/>
            <a:ext cx="2813637" cy="392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Data Model order : customer et line en type 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1260" y="2486678"/>
            <a:ext cx="5361659" cy="2550643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9_ex1_ru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59" y="2515478"/>
            <a:ext cx="5304059" cy="24930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0059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Résultat : 22 commandes écrites, 1 erreur (la ligne vide)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Corrigé : ce que donne le fichier de cas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38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8000" y="1908000"/>
          <a:ext cx="10896118" cy="40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735"/>
                <a:gridCol w="3502324"/>
                <a:gridCol w="5448059"/>
              </a:tblGrid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Zen Maru Gothic"/>
                        </a:rPr>
                        <a:t>Ligne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Zen Maru Gothic"/>
                        </a:rPr>
                        <a:t>Cas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Zen Maru Gothic"/>
                        </a:rPr>
                        <a:t>Résultat observé dans Zparse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WEB-2001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Quantité 0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Écrite, totalPrice = 0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WEB-2002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Pays vide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Écrite, country vide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WEB-2003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Nom « d'Ursel » avec espaces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Écrite, fullName = Hélène D'URSEL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WEB-2004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Statut « Payée »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Retirée : le filtre respecte la casse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WEB-2005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Prix 19,99 x 3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Écrite, totalPrice = 59.97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(vide)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order_id vide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Écrite avec orderReference vide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5107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1A6E"/>
                          </a:solidFill>
                          <a:latin typeface="Barlow"/>
                        </a:rPr>
                        <a:t>WEB-2007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Quantité « deux »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A3A48"/>
                          </a:solidFill>
                          <a:latin typeface="Barlow"/>
                        </a:rPr>
                        <a:t>Rejetée en erreur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AB6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all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1620000"/>
            <a:ext cx="3600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Zen Mar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3456000"/>
            <a:ext cx="1008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Zen Maru Gothic"/>
              </a:rPr>
              <a:t>Les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4464000"/>
            <a:ext cx="936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Barlow"/>
              </a:rPr>
              <a:t>Déclencher, enchaîner, surveiller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Tutoriel 2 : le mapping du catalogue derrière une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" y="2377814"/>
            <a:ext cx="10953719" cy="3092371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hema_tutoriel_j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406614"/>
            <a:ext cx="10896119" cy="30347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6156000"/>
            <a:ext cx="10896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A8A98"/>
                </a:solidFill>
                <a:latin typeface="Barlow"/>
              </a:rPr>
              <a:t>Réutilise le mapping tuto-catalogue v1.0 du jour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Tutoriel 2 : les six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41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000" y="2502000"/>
            <a:ext cx="10896119" cy="28800"/>
          </a:xfrm>
          <a:prstGeom prst="rect">
            <a:avLst/>
          </a:prstGeom>
          <a:solidFill>
            <a:srgbClr val="E3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8000" y="2232000"/>
            <a:ext cx="576000" cy="576000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2232000"/>
            <a:ext cx="576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Zen Maru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3024000"/>
            <a:ext cx="16660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Zen Maru Gothic"/>
              </a:rPr>
              <a:t>Créer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744000"/>
            <a:ext cx="1666019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Workflows &gt; Create new workflow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Nom : api-catalogue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Blank workflow</a:t>
            </a:r>
          </a:p>
        </p:txBody>
      </p:sp>
      <p:sp>
        <p:nvSpPr>
          <p:cNvPr id="12" name="Oval 11"/>
          <p:cNvSpPr/>
          <p:nvPr/>
        </p:nvSpPr>
        <p:spPr>
          <a:xfrm>
            <a:off x="2494019" y="2232000"/>
            <a:ext cx="576000" cy="576000"/>
          </a:xfrm>
          <a:prstGeom prst="ellipse">
            <a:avLst/>
          </a:prstGeom>
          <a:solidFill>
            <a:srgbClr val="2E1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4019" y="2232000"/>
            <a:ext cx="576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Zen Mar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4019" y="3024000"/>
            <a:ext cx="16660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Zen Maru Gothic"/>
              </a:rPr>
              <a:t>Entrée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4019" y="3744000"/>
            <a:ext cx="1666019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Web Server &gt; File Endpoint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Public désactivé</a:t>
            </a:r>
          </a:p>
        </p:txBody>
      </p:sp>
      <p:sp>
        <p:nvSpPr>
          <p:cNvPr id="16" name="Oval 15"/>
          <p:cNvSpPr/>
          <p:nvPr/>
        </p:nvSpPr>
        <p:spPr>
          <a:xfrm>
            <a:off x="4340040" y="2232000"/>
            <a:ext cx="576000" cy="576000"/>
          </a:xfrm>
          <a:prstGeom prst="ellipse">
            <a:avLst/>
          </a:prstGeom>
          <a:solidFill>
            <a:srgbClr val="2E1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0040" y="2232000"/>
            <a:ext cx="576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Zen Mar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0040" y="3024000"/>
            <a:ext cx="16660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Zen Maru Gothic"/>
              </a:rPr>
              <a:t>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0040" y="3744000"/>
            <a:ext cx="1666019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Mapping &gt; Mapping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tuto-catalogue, v1.0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Record execution data</a:t>
            </a:r>
          </a:p>
        </p:txBody>
      </p:sp>
      <p:sp>
        <p:nvSpPr>
          <p:cNvPr id="20" name="Oval 19"/>
          <p:cNvSpPr/>
          <p:nvPr/>
        </p:nvSpPr>
        <p:spPr>
          <a:xfrm>
            <a:off x="6186059" y="2232000"/>
            <a:ext cx="576000" cy="576000"/>
          </a:xfrm>
          <a:prstGeom prst="ellipse">
            <a:avLst/>
          </a:prstGeom>
          <a:solidFill>
            <a:srgbClr val="2E1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6059" y="2232000"/>
            <a:ext cx="576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Zen Maru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6059" y="3024000"/>
            <a:ext cx="16660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Zen Maru Gothic"/>
              </a:rPr>
              <a:t>Relier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6059" y="3744000"/>
            <a:ext cx="1666019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File vers XLSX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032079" y="2232000"/>
            <a:ext cx="576000" cy="576000"/>
          </a:xfrm>
          <a:prstGeom prst="ellipse">
            <a:avLst/>
          </a:prstGeom>
          <a:solidFill>
            <a:srgbClr val="2E1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2079" y="2232000"/>
            <a:ext cx="576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Zen Maru 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2079" y="3024000"/>
            <a:ext cx="16660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Zen Maru Gothic"/>
              </a:rPr>
              <a:t>Répondre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2079" y="3744000"/>
            <a:ext cx="1666019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Web Server &gt; File Response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JSON File vers File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Responder vers Responder</a:t>
            </a:r>
          </a:p>
        </p:txBody>
      </p:sp>
      <p:sp>
        <p:nvSpPr>
          <p:cNvPr id="28" name="Oval 27"/>
          <p:cNvSpPr/>
          <p:nvPr/>
        </p:nvSpPr>
        <p:spPr>
          <a:xfrm>
            <a:off x="9878099" y="2232000"/>
            <a:ext cx="576000" cy="576000"/>
          </a:xfrm>
          <a:prstGeom prst="ellipse">
            <a:avLst/>
          </a:prstGeom>
          <a:solidFill>
            <a:srgbClr val="2E1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8099" y="2232000"/>
            <a:ext cx="576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Zen Maru Gothic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8099" y="3024000"/>
            <a:ext cx="16660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Zen Maru Gothic"/>
              </a:rPr>
              <a:t>Tester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8099" y="3744000"/>
            <a:ext cx="1666019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Run workflow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Déposer le fichier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Run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Étapes 1 et 2 : créer le workflow et ajouter l'entrée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42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19324" y="1771200"/>
            <a:ext cx="3361410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4_wf_blan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124" y="1800000"/>
            <a:ext cx="3303810" cy="392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Blank workflow puis Create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1260" y="2264930"/>
            <a:ext cx="5361659" cy="299413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47_wf_file_endpoin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59" y="2293730"/>
            <a:ext cx="5304059" cy="29365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0059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File Endpoint, Public désactivé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Étapes 3 à 5 : le mapping et les liens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43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4424" y="1771200"/>
            <a:ext cx="4491210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8_wf_mapping_no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224" y="1800000"/>
            <a:ext cx="4433610" cy="392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Node Mapping : tuto-catalogue v1.0, Record execution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1260" y="2486678"/>
            <a:ext cx="5361659" cy="2550643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49_wf_graph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59" y="2515478"/>
            <a:ext cx="5304059" cy="24930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0059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Les trois nodes reliés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Étape 6 : tester et suivre l'exécution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44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" y="2486678"/>
            <a:ext cx="5361659" cy="2550643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1_wf_run_succ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515478"/>
            <a:ext cx="5304059" cy="24930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Chaque node passe en Success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1260" y="1981330"/>
            <a:ext cx="5361659" cy="35613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53_monitoring_detai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59" y="2010130"/>
            <a:ext cx="5304059" cy="35037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0059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Menu Monitoring : une ligne par étape, 10 produits traités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Les nodes de workflow utiles pour un analyste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45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8000" y="1908000"/>
          <a:ext cx="10896117" cy="40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9223"/>
                <a:gridCol w="4358447"/>
                <a:gridCol w="4358447"/>
              </a:tblGrid>
              <a:tr h="681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Zen Maru Gothic"/>
                        </a:rPr>
                        <a:t>Famille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Zen Maru Gothic"/>
                        </a:rPr>
                        <a:t>Nodes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Zen Maru Gothic"/>
                        </a:rPr>
                        <a:t>Usage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</a:tr>
              <a:tr h="681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Web Server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File Endpoint, JSON Endpoint, File Response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Recevoir un fichier et renvoyer le résultat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681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Scheduler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Periodic, Manual Run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Lancer à intervalle fixe ou à la main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681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Web Request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Request: GET, POST, Paginated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Appeler une API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681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Mapping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Mapping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Appliquer un mapping versionné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681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E1A6E"/>
                          </a:solidFill>
                          <a:latin typeface="Barlow"/>
                        </a:rPr>
                        <a:t>Google, Accounting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BigQuery, Pennylane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A3A48"/>
                          </a:solidFill>
                          <a:latin typeface="Barlow"/>
                        </a:rPr>
                        <a:t>Envoyer vers un entrepôt ou un logiciel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AB6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all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1620000"/>
            <a:ext cx="3600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Zen Mar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3456000"/>
            <a:ext cx="1008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Zen Maru Gothic"/>
              </a:rPr>
              <a:t>Exercice 2 et usages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4464000"/>
            <a:ext cx="936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2E1A6E"/>
                </a:solidFill>
                <a:latin typeface="Barlow"/>
              </a:rPr>
              <a:t>Un flux planifié de bout en bout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6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8000" y="1655999"/>
            <a:ext cx="576000" cy="64800"/>
          </a:xfrm>
          <a:prstGeom prst="rect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72000"/>
            <a:ext cx="1008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Zen Maru Gothic"/>
              </a:rPr>
              <a:t>Exercice 2 : la météo quotidienne des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3384000"/>
            <a:ext cx="9360000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>Le service planning veut enregistrer chaque matin la température et le vent sur le site de Louvain-la-Neuve. Les données seront croisées avec les absences dans Power BI.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/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>La météo vient de l'API gratuite Open-Meteo. Aucune clé n'est nécessaire.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/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B8B0DC"/>
                </a:solidFill>
                <a:latin typeface="Barlow"/>
              </a:rPr>
              <a:t>Durée : 1h30. Travail en binôme possible.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B8B0DC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B8B0DC"/>
                </a:solidFill>
                <a:latin typeface="Barlow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Exercice 2 : ce que l'API renvoie et ce qui est attendu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944000"/>
            <a:ext cx="4500000" cy="39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Réponse de l'API à droite (extrait)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Les valeurs utiles sont dans current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Résultat attendu : un enregistrement à plat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3AB67"/>
                </a:solidFill>
                <a:latin typeface="Barlow"/>
              </a:rPr>
              <a:t>•  </a:t>
            </a:r>
            <a:r>
              <a:rPr sz="1800" b="0">
                <a:solidFill>
                  <a:srgbClr val="3A3A48"/>
                </a:solidFill>
                <a:latin typeface="Barlow"/>
              </a:rPr>
              <a:t>site et source sont des valeurs fixes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72000" y="1908000"/>
            <a:ext cx="6072119" cy="4248000"/>
          </a:xfrm>
          <a:prstGeom prst="roundRect">
            <a:avLst>
              <a:gd name="adj" fmla="val 3000"/>
            </a:avLst>
          </a:prstGeom>
          <a:solidFill>
            <a:srgbClr val="2E1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24000" y="2124000"/>
            <a:ext cx="5568120" cy="38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Réponse (extrait) 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  "current":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    "time": "2026-09-24T07:00",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    "temperature_2m": 12.4,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    "wind_speed_10m": 9.7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Résultat attendu 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  "site": "Louvain-la-Neuve",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  "measured_at": "2026-09-24T07:00",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  "temperature_c": 12.4,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  "wind_kmh": 9.7,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  "source": "open-meteo"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Exercice 2 : le schéma à construire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49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" y="2195405"/>
            <a:ext cx="10953719" cy="3457189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hema_exercic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224205"/>
            <a:ext cx="10896119" cy="33995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6156000"/>
            <a:ext cx="10896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A8A98"/>
                </a:solidFill>
                <a:latin typeface="Barlow"/>
              </a:rPr>
              <a:t>URL : https://api.open-meteo.com/v1/forecast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Exercice 2 : les réglages de l'appel d'API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50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8000" y="1908000"/>
          <a:ext cx="10896118" cy="4085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6699"/>
                <a:gridCol w="7869419"/>
              </a:tblGrid>
              <a:tr h="58371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Zen Maru Gothic"/>
                        </a:rPr>
                        <a:t>Paramètre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Zen Maru Gothic"/>
                        </a:rPr>
                        <a:t>Valeur</a:t>
                      </a:r>
                    </a:p>
                  </a:txBody>
                  <a:tcPr marL="108000" marR="108000" anchor="ctr">
                    <a:solidFill>
                      <a:srgbClr val="2E1A6E"/>
                    </a:solidFill>
                  </a:tcPr>
                </a:tc>
              </a:tr>
              <a:tr h="58371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URL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https://api.open-meteo.com/v1/forecast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58371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latitude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50.67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58371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longitude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4.61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58371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current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temperature_2m,wind_speed_10m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  <a:tr h="58371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timezone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Europe/Brussels</a:t>
                      </a:r>
                    </a:p>
                  </a:txBody>
                  <a:tcPr marL="108000" marR="108000" anchor="ctr">
                    <a:solidFill>
                      <a:srgbClr val="FFFFFF"/>
                    </a:solidFill>
                  </a:tcPr>
                </a:tc>
              </a:tr>
              <a:tr h="58371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E1A6E"/>
                          </a:solidFill>
                          <a:latin typeface="Barlow"/>
                        </a:rPr>
                        <a:t>Response Type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A3A48"/>
                          </a:solidFill>
                          <a:latin typeface="Barlow"/>
                        </a:rPr>
                        <a:t>File</a:t>
                      </a:r>
                    </a:p>
                  </a:txBody>
                  <a:tcPr marL="108000" marR="108000" anchor="ctr">
                    <a:solidFill>
                      <a:srgbClr val="F6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Exercice 2 : le planning et l'appel d'API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51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170" y="1771200"/>
            <a:ext cx="5127718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4_ex2_periodi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70" y="1800000"/>
            <a:ext cx="5070118" cy="392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Periodic : toutes les 1 Days, Running désactivé pendant les tests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3033" y="1771200"/>
            <a:ext cx="3258112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55_ex2_get_param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833" y="1800000"/>
            <a:ext cx="3200512" cy="392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0059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Request: GET avec ses quatre paramètres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Exercice 2 : lire la réponse et provoquer une erreur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6934" y="1771199"/>
            <a:ext cx="3026191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2_ex2_extract_pat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734" y="1799999"/>
            <a:ext cx="2968591" cy="392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JSON : Extract values from path sur les trois valeurs de current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18706" y="1771200"/>
            <a:ext cx="4346767" cy="39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61_ex2_detail_erreu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506" y="1800000"/>
            <a:ext cx="4289167" cy="392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0059" y="5832000"/>
            <a:ext cx="530405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A3A48"/>
                </a:solidFill>
                <a:latin typeface="Barlow"/>
              </a:rPr>
              <a:t>Domaine mal saisi : erreur « dns error » au bon node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Exercice 2 : ce qui est demandé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944000"/>
            <a:ext cx="10392119" cy="4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Un mapping « meteo-site » testé sur le fichier exemple de Louvain-la-Neuve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Un workflow « meteo-quotidienne » avec Periodic et Manual Run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Une exécution réussie lancée avec Manual Run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Une erreur provoquée, lue dans le suivi, puis corrigée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Bonus : les sites de Bruxelles et Namur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Zparse et les projets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1908000"/>
            <a:ext cx="3440039" cy="417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2000" y="2196000"/>
            <a:ext cx="503999" cy="503999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2000" y="2196000"/>
            <a:ext cx="503999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Zen Maru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0" y="2916000"/>
            <a:ext cx="279203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2E1A6E"/>
                </a:solidFill>
                <a:latin typeface="Zen Maru Gothic"/>
              </a:rPr>
              <a:t>Lire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000" y="3671999"/>
            <a:ext cx="279203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3A3A48"/>
                </a:solidFill>
                <a:latin typeface="Barlow"/>
              </a:rPr>
              <a:t>Les PDF, Excel, XML et JSON sont lus, y compris les documents scannés (OCR)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6040" y="1908000"/>
            <a:ext cx="3440039" cy="417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0040" y="2196000"/>
            <a:ext cx="503999" cy="503999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40" y="2196000"/>
            <a:ext cx="503999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Zen Mar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40" y="2916000"/>
            <a:ext cx="279203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2E1A6E"/>
                </a:solidFill>
                <a:latin typeface="Zen Maru Gothic"/>
              </a:rPr>
              <a:t>Découper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40" y="3671999"/>
            <a:ext cx="279203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3A3A48"/>
                </a:solidFill>
                <a:latin typeface="Barlow"/>
              </a:rPr>
              <a:t>Les textes sont découpés en morceaux puis envoyés vers une base vectorielle (Qdrant, Pinecone, pgvector)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4080" y="1908000"/>
            <a:ext cx="3440039" cy="417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28080" y="2196000"/>
            <a:ext cx="503999" cy="503999"/>
          </a:xfrm>
          <a:prstGeom prst="ellipse">
            <a:avLst/>
          </a:prstGeom>
          <a:solidFill>
            <a:srgbClr val="23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8080" y="2196000"/>
            <a:ext cx="503999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Zen Maru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8080" y="2916000"/>
            <a:ext cx="279203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2E1A6E"/>
                </a:solidFill>
                <a:latin typeface="Zen Maru Gothic"/>
              </a:rPr>
              <a:t>Tracer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8080" y="3671999"/>
            <a:ext cx="279203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3A3A48"/>
                </a:solidFill>
                <a:latin typeface="Barlow"/>
              </a:rPr>
              <a:t>Chaque document et chaque morceau est journalisé, ce qui aide à expliquer une réponse d'un assistant IA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19" y="324000"/>
            <a:ext cx="1584000" cy="73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468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3AB67"/>
                </a:solidFill>
                <a:latin typeface="Zen Mar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756000"/>
            <a:ext cx="91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E1A6E"/>
                </a:solidFill>
                <a:latin typeface="Zen Maru Gothic"/>
              </a:rPr>
              <a:t>Pour aller plus loin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90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Zparse pour les analystes data  |  bstorm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4119" y="63900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8A8A98"/>
                </a:solidFill>
                <a:latin typeface="Barlow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944000"/>
            <a:ext cx="10392119" cy="4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Guides Zparse : doc.zparse.io/guides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Référence des nodes : doc.zparse.io/platformRef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>
                <a:solidFill>
                  <a:srgbClr val="23AB67"/>
                </a:solidFill>
                <a:latin typeface="Barlow"/>
              </a:rPr>
              <a:t>•  </a:t>
            </a:r>
            <a:r>
              <a:rPr sz="2100" b="0">
                <a:solidFill>
                  <a:srgbClr val="3A3A48"/>
                </a:solidFill>
                <a:latin typeface="Barlow"/>
              </a:rPr>
              <a:t>Évaluation de la formation avant de quitter la salle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6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540000"/>
            <a:ext cx="2340000" cy="10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2304000"/>
            <a:ext cx="1008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Zen Maru Gothic"/>
              </a:rPr>
              <a:t>Merci pour votre participation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3311999"/>
            <a:ext cx="936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B8B0DC"/>
                </a:solidFill>
                <a:latin typeface="Barlow"/>
              </a:rPr>
              <a:t>Brainstorm Consulting SRL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B8B0DC"/>
                </a:solidFill>
                <a:latin typeface="Barlow"/>
              </a:rPr>
              <a:t>Rue du Bosquet, 7 - 1348 Louvain-la-Neuve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B8B0DC"/>
                </a:solidFill>
                <a:latin typeface="Barlow"/>
              </a:rPr>
              <a:t>caroline.herssens@bstorm.be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B8B0DC"/>
                </a:solidFill>
                <a:latin typeface="Barlow"/>
              </a:rPr>
              <a:t>010/24.71.10  |  0475/97.83.68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