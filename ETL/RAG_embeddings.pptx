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de la séance : que chacun puisse expliquer le RAG et l'embedding à un collègue non technique. Aucun code aujourd'hui, uniquement les idées. Les points de couleur à droite annoncent le fil rouge : des textes vus comme des points sur une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Poser la question à la salle : « ChatGPT connaît-il le règlement intérieur de Bruxelles Formation ? ». Non : il ne l'a jamais lu. S'il répond quand même, il invente, c'est ce qu'on appelle une hallucination. Tout le reste du cours sert à résoudre ce problème.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Partir de ce que tout le monde fait déjà : copier-coller un texte dans un chatbot. Le RAG, c'est l'automatisation de ce geste, mais en ne collant que les quelques passages utiles. Fenêtre de contexte = quantité maximale de texte que le modèle peut lire d'un coup.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 Retrieval-Augmented Generation, génération augmentée par la recherche. Insister : le modèle ne « apprend » rien, on ne le modifie pas. On lui glisse juste les bonnes pages sous les yeux au moment de la question. Question clé qui amène la suite : comment trouver automatiquement les bons passages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deviner à la salle combien de mots les deux phrases ont en commun : aucun (hormis les mots vides). Un WHERE texte LIKE '%résilier%' passe à côté. C'est exactement le problème que les embeddings résolvent.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L'analogie GPS : chaque texte reçoit des coordonnées. Ici 2 dimensions pour pouvoir dessiner. On voit trois quartiers : contrats, chiens, météo. La question tombe dans le quartier des contrats, donc on récupère ces passages-là. Le modèle d'embedding a appris ces positions en lisant des milliards de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fréquente : « que veut dire la dimension 3 ? ». Réponse : rien d'interprétable seul, c'est comme une colonne d'une ACP. Ce qui compte, c'est la comparaison entre vecteurs. Faire remarquer que les lignes 1 et 2 se ressemblent chiffre par chiffre, la ligne 3 pas du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besoin de formule. Retenir : on compare des directions. Plus l'angle est petit, plus le score approche 1. La recherche RAG consiste à calculer ce score entre la question et tous les passages, puis à garder les meilleurs. Scores illustratifs.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moments distincts. L'ingestion se fait une fois : c'est le cœur du module Zparse. La question se rejoue à chaque demande. Point crucial : la question doit être transformée par le MÊME modèle d'embedding que les passages, sinon les coordonnées ne sont pas comparables (comme mélanger Lambert 72 et WGS84).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pour ancrer chez les profils data. Qdrant (la base qu'on utilisera) stocke les passages, leurs vecteurs et des métadonnées (nom du fichier, page…), exactement comme une table. La seule nouveauté est l'index qui accélère la recherche du plus proche.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 module : dans un RAG, la plupart des mauvaises réponses viennent de l'ingestion, pas du modèle. C'est pour ça qu'un module entier est consacré à l'ETL : extraire proprement, découper intelligemment, bien indexer.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reformuler les trois points par deux ou trois stagiaires avant la pause. Si quelqu'un sait expliquer le RAG avec l'image du copier-coller et l'embedding avec l'image de la carte, l'objectif est atteint.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2223B"/>
        </a:solidFill>
      </p:bgPr>
    </p:bg>
    <p:spTree>
      <p:nvGrpSpPr>
        <p:cNvPr id="1" name=""/>
        <p:cNvGrpSpPr/>
        <p:nvPr/>
      </p:nvGrpSpPr>
      <p:grpSpPr>
        <a:xfrm>
          <a:off x="0" y="0"/>
          <a:ext cx="0" cy="0"/>
          <a:chOff x="0" y="0"/>
          <a:chExt cx="0" cy="0"/>
        </a:xfrm>
      </p:grpSpPr>
      <p:sp>
        <p:nvSpPr>
          <p:cNvPr id="2" name="Shape 0"/>
          <p:cNvSpPr/>
          <p:nvPr/>
        </p:nvSpPr>
        <p:spPr>
          <a:xfrm>
            <a:off x="6035040" y="914400"/>
            <a:ext cx="502920" cy="502920"/>
          </a:xfrm>
          <a:prstGeom prst="ellipse">
            <a:avLst/>
          </a:prstGeom>
          <a:solidFill>
            <a:srgbClr val="E07A5F"/>
          </a:solidFill>
          <a:ln w="12700">
            <a:solidFill>
              <a:srgbClr val="E07A5F"/>
            </a:solidFill>
            <a:prstDash val="solid"/>
          </a:ln>
        </p:spPr>
      </p:sp>
      <p:sp>
        <p:nvSpPr>
          <p:cNvPr id="3" name="Shape 1"/>
          <p:cNvSpPr/>
          <p:nvPr/>
        </p:nvSpPr>
        <p:spPr>
          <a:xfrm>
            <a:off x="6675120" y="1280160"/>
            <a:ext cx="320040" cy="320040"/>
          </a:xfrm>
          <a:prstGeom prst="ellipse">
            <a:avLst/>
          </a:prstGeom>
          <a:solidFill>
            <a:srgbClr val="E07A5F"/>
          </a:solidFill>
          <a:ln w="12700">
            <a:solidFill>
              <a:srgbClr val="E07A5F"/>
            </a:solidFill>
            <a:prstDash val="solid"/>
          </a:ln>
        </p:spPr>
      </p:sp>
      <p:sp>
        <p:nvSpPr>
          <p:cNvPr id="4" name="Shape 2"/>
          <p:cNvSpPr/>
          <p:nvPr/>
        </p:nvSpPr>
        <p:spPr>
          <a:xfrm>
            <a:off x="6309360" y="1737360"/>
            <a:ext cx="228600" cy="228600"/>
          </a:xfrm>
          <a:prstGeom prst="ellipse">
            <a:avLst/>
          </a:prstGeom>
          <a:solidFill>
            <a:srgbClr val="E07A5F"/>
          </a:solidFill>
          <a:ln w="12700">
            <a:solidFill>
              <a:srgbClr val="E07A5F"/>
            </a:solidFill>
            <a:prstDash val="solid"/>
          </a:ln>
        </p:spPr>
      </p:sp>
      <p:sp>
        <p:nvSpPr>
          <p:cNvPr id="5" name="Shape 3"/>
          <p:cNvSpPr/>
          <p:nvPr/>
        </p:nvSpPr>
        <p:spPr>
          <a:xfrm>
            <a:off x="7223760" y="2651760"/>
            <a:ext cx="457200" cy="457200"/>
          </a:xfrm>
          <a:prstGeom prst="ellipse">
            <a:avLst/>
          </a:prstGeom>
          <a:solidFill>
            <a:srgbClr val="81B29A"/>
          </a:solidFill>
          <a:ln w="12700">
            <a:solidFill>
              <a:srgbClr val="81B29A"/>
            </a:solidFill>
            <a:prstDash val="solid"/>
          </a:ln>
        </p:spPr>
      </p:sp>
      <p:sp>
        <p:nvSpPr>
          <p:cNvPr id="6" name="Shape 4"/>
          <p:cNvSpPr/>
          <p:nvPr/>
        </p:nvSpPr>
        <p:spPr>
          <a:xfrm>
            <a:off x="7772400" y="3017520"/>
            <a:ext cx="274320" cy="274320"/>
          </a:xfrm>
          <a:prstGeom prst="ellipse">
            <a:avLst/>
          </a:prstGeom>
          <a:solidFill>
            <a:srgbClr val="81B29A"/>
          </a:solidFill>
          <a:ln w="12700">
            <a:solidFill>
              <a:srgbClr val="81B29A"/>
            </a:solidFill>
            <a:prstDash val="solid"/>
          </a:ln>
        </p:spPr>
      </p:sp>
      <p:sp>
        <p:nvSpPr>
          <p:cNvPr id="7" name="Shape 5"/>
          <p:cNvSpPr/>
          <p:nvPr/>
        </p:nvSpPr>
        <p:spPr>
          <a:xfrm>
            <a:off x="7315200" y="3291840"/>
            <a:ext cx="201168" cy="201168"/>
          </a:xfrm>
          <a:prstGeom prst="ellipse">
            <a:avLst/>
          </a:prstGeom>
          <a:solidFill>
            <a:srgbClr val="81B29A"/>
          </a:solidFill>
          <a:ln w="12700">
            <a:solidFill>
              <a:srgbClr val="81B29A"/>
            </a:solidFill>
            <a:prstDash val="solid"/>
          </a:ln>
        </p:spPr>
      </p:sp>
      <p:sp>
        <p:nvSpPr>
          <p:cNvPr id="8" name="Shape 6"/>
          <p:cNvSpPr/>
          <p:nvPr/>
        </p:nvSpPr>
        <p:spPr>
          <a:xfrm>
            <a:off x="5760720" y="3291840"/>
            <a:ext cx="365760" cy="365760"/>
          </a:xfrm>
          <a:prstGeom prst="ellipse">
            <a:avLst/>
          </a:prstGeom>
          <a:solidFill>
            <a:srgbClr val="F2CC8F"/>
          </a:solidFill>
          <a:ln w="12700">
            <a:solidFill>
              <a:srgbClr val="F2CC8F"/>
            </a:solidFill>
            <a:prstDash val="solid"/>
          </a:ln>
        </p:spPr>
      </p:sp>
      <p:sp>
        <p:nvSpPr>
          <p:cNvPr id="9" name="Shape 7"/>
          <p:cNvSpPr/>
          <p:nvPr/>
        </p:nvSpPr>
        <p:spPr>
          <a:xfrm>
            <a:off x="6217920" y="3749040"/>
            <a:ext cx="256032" cy="256032"/>
          </a:xfrm>
          <a:prstGeom prst="ellipse">
            <a:avLst/>
          </a:prstGeom>
          <a:solidFill>
            <a:srgbClr val="F2CC8F"/>
          </a:solidFill>
          <a:ln w="12700">
            <a:solidFill>
              <a:srgbClr val="F2CC8F"/>
            </a:solidFill>
            <a:prstDash val="solid"/>
          </a:ln>
        </p:spPr>
      </p:sp>
      <p:sp>
        <p:nvSpPr>
          <p:cNvPr id="10" name="Text 8"/>
          <p:cNvSpPr txBox="1"/>
          <p:nvPr/>
        </p:nvSpPr>
        <p:spPr>
          <a:xfrm>
            <a:off x="548640" y="731520"/>
            <a:ext cx="5120640" cy="2011680"/>
          </a:xfrm>
          <a:prstGeom prst="rect">
            <a:avLst/>
          </a:prstGeom>
          <a:noFill/>
          <a:ln/>
        </p:spPr>
        <p:txBody>
          <a:bodyPr wrap="square" lIns="0" tIns="0" rIns="0" bIns="0" rtlCol="0" anchor="t"/>
          <a:lstStyle/>
          <a:p>
            <a:pPr indent="0" marL="0">
              <a:buNone/>
            </a:pPr>
            <a:r>
              <a:rPr lang="en-US" sz="3800" b="1" dirty="0">
                <a:solidFill>
                  <a:srgbClr val="FFFFFF"/>
                </a:solidFill>
                <a:latin typeface="Cambria" pitchFamily="34" charset="0"/>
                <a:ea typeface="Cambria" pitchFamily="34" charset="-122"/>
                <a:cs typeface="Cambria" pitchFamily="34" charset="-120"/>
              </a:rPr>
              <a:t>Le RAG,</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un copier-coller intelligent</a:t>
            </a:r>
            <a:endParaRPr lang="en-US" sz="3800" dirty="0"/>
          </a:p>
        </p:txBody>
      </p:sp>
      <p:sp>
        <p:nvSpPr>
          <p:cNvPr id="11" name="Text 9"/>
          <p:cNvSpPr txBox="1"/>
          <p:nvPr/>
        </p:nvSpPr>
        <p:spPr>
          <a:xfrm>
            <a:off x="548640" y="2971800"/>
            <a:ext cx="5120640" cy="731520"/>
          </a:xfrm>
          <a:prstGeom prst="rect">
            <a:avLst/>
          </a:prstGeom>
          <a:noFill/>
          <a:ln/>
        </p:spPr>
        <p:txBody>
          <a:bodyPr wrap="square" lIns="0" tIns="0" rIns="0" bIns="0" rtlCol="0" anchor="t"/>
          <a:lstStyle/>
          <a:p>
            <a:pPr indent="0" marL="0">
              <a:buNone/>
            </a:pPr>
            <a:r>
              <a:rPr lang="en-US" sz="1800" dirty="0">
                <a:solidFill>
                  <a:srgbClr val="F2CC8F"/>
                </a:solidFill>
                <a:latin typeface="Calibri" pitchFamily="34" charset="0"/>
                <a:ea typeface="Calibri" pitchFamily="34" charset="-122"/>
                <a:cs typeface="Calibri" pitchFamily="34" charset="-120"/>
              </a:rPr>
              <a:t>Comprendre les embeddings et la recherche par le sens</a:t>
            </a:r>
            <a:endParaRPr lang="en-US" sz="1800" dirty="0"/>
          </a:p>
        </p:txBody>
      </p:sp>
      <p:sp>
        <p:nvSpPr>
          <p:cNvPr id="12" name="Text 10"/>
          <p:cNvSpPr txBox="1"/>
          <p:nvPr/>
        </p:nvSpPr>
        <p:spPr>
          <a:xfrm>
            <a:off x="548640" y="4206240"/>
            <a:ext cx="5486400" cy="365760"/>
          </a:xfrm>
          <a:prstGeom prst="rect">
            <a:avLst/>
          </a:prstGeom>
          <a:noFill/>
          <a:ln/>
        </p:spPr>
        <p:txBody>
          <a:bodyPr wrap="square" lIns="0" tIns="0" rIns="0" bIns="0" rtlCol="0" anchor="t"/>
          <a:lstStyle/>
          <a:p>
            <a:pPr indent="0" marL="0">
              <a:buNone/>
            </a:pPr>
            <a:r>
              <a:rPr lang="en-US" sz="1200" dirty="0">
                <a:solidFill>
                  <a:srgbClr val="B8B8CC"/>
                </a:solidFill>
                <a:latin typeface="Calibri" pitchFamily="34" charset="0"/>
                <a:ea typeface="Calibri" pitchFamily="34" charset="-122"/>
                <a:cs typeface="Calibri" pitchFamily="34" charset="-120"/>
              </a:rPr>
              <a:t>Module ETL avec Zparse · Parcours Intégrateur IA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Un LLM ne connaît pas vos documents</a:t>
            </a:r>
            <a:endParaRPr lang="en-US" sz="3000" dirty="0"/>
          </a:p>
        </p:txBody>
      </p:sp>
      <p:sp>
        <p:nvSpPr>
          <p:cNvPr id="3" name="Shape 1"/>
          <p:cNvSpPr/>
          <p:nvPr/>
        </p:nvSpPr>
        <p:spPr>
          <a:xfrm>
            <a:off x="457200" y="1234440"/>
            <a:ext cx="3931920" cy="2148840"/>
          </a:xfrm>
          <a:prstGeom prst="roundRect">
            <a:avLst>
              <a:gd name="adj" fmla="val 5106"/>
            </a:avLst>
          </a:prstGeom>
          <a:solidFill>
            <a:srgbClr val="F1EEF7"/>
          </a:solidFill>
          <a:ln w="12700">
            <a:solidFill>
              <a:srgbClr val="F1EEF7"/>
            </a:solidFill>
            <a:prstDash val="solid"/>
          </a:ln>
        </p:spPr>
      </p:sp>
      <p:sp>
        <p:nvSpPr>
          <p:cNvPr id="4" name="Shape 2"/>
          <p:cNvSpPr/>
          <p:nvPr/>
        </p:nvSpPr>
        <p:spPr>
          <a:xfrm>
            <a:off x="731520" y="1463040"/>
            <a:ext cx="457200" cy="457200"/>
          </a:xfrm>
          <a:prstGeom prst="ellipse">
            <a:avLst/>
          </a:prstGeom>
          <a:solidFill>
            <a:srgbClr val="81B29A"/>
          </a:solidFill>
          <a:ln w="12700">
            <a:solidFill>
              <a:srgbClr val="81B29A"/>
            </a:solidFill>
            <a:prstDash val="solid"/>
          </a:ln>
        </p:spPr>
      </p:sp>
      <p:sp>
        <p:nvSpPr>
          <p:cNvPr id="5" name="Text 3"/>
          <p:cNvSpPr txBox="1"/>
          <p:nvPr/>
        </p:nvSpPr>
        <p:spPr>
          <a:xfrm>
            <a:off x="73152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txBox="1"/>
          <p:nvPr/>
        </p:nvSpPr>
        <p:spPr>
          <a:xfrm>
            <a:off x="1371600" y="1508760"/>
            <a:ext cx="2743200" cy="411480"/>
          </a:xfrm>
          <a:prstGeom prst="rect">
            <a:avLst/>
          </a:prstGeom>
          <a:noFill/>
          <a:ln/>
        </p:spPr>
        <p:txBody>
          <a:bodyPr wrap="square" lIns="0" tIns="0" rIns="0" bIns="0" rtlCol="0" anchor="t"/>
          <a:lstStyle/>
          <a:p>
            <a:pPr indent="0" marL="0">
              <a:buNone/>
            </a:pPr>
            <a:r>
              <a:rPr lang="en-US" sz="2000" b="1" dirty="0">
                <a:solidFill>
                  <a:srgbClr val="22223B"/>
                </a:solidFill>
                <a:latin typeface="Cambria" pitchFamily="34" charset="0"/>
                <a:ea typeface="Cambria" pitchFamily="34" charset="-122"/>
                <a:cs typeface="Cambria" pitchFamily="34" charset="-120"/>
              </a:rPr>
              <a:t>Ce qu'il sait</a:t>
            </a:r>
            <a:endParaRPr lang="en-US" sz="2000" dirty="0"/>
          </a:p>
        </p:txBody>
      </p:sp>
      <p:sp>
        <p:nvSpPr>
          <p:cNvPr id="7" name="Text 5"/>
          <p:cNvSpPr txBox="1"/>
          <p:nvPr/>
        </p:nvSpPr>
        <p:spPr>
          <a:xfrm>
            <a:off x="731520" y="2103120"/>
            <a:ext cx="3474720" cy="1097280"/>
          </a:xfrm>
          <a:prstGeom prst="rect">
            <a:avLst/>
          </a:prstGeom>
          <a:noFill/>
          <a:ln/>
        </p:spPr>
        <p:txBody>
          <a:bodyPr wrap="square" lIns="0" tIns="0" rIns="0" bIns="0" rtlCol="0" anchor="t"/>
          <a:lstStyle/>
          <a:p>
            <a:pPr indent="0" marL="0">
              <a:buNone/>
            </a:pPr>
            <a:r>
              <a:rPr lang="en-US" sz="1500" dirty="0">
                <a:solidFill>
                  <a:srgbClr val="22223B"/>
                </a:solidFill>
                <a:latin typeface="Calibri" pitchFamily="34" charset="0"/>
                <a:ea typeface="Calibri" pitchFamily="34" charset="-122"/>
                <a:cs typeface="Calibri" pitchFamily="34" charset="-120"/>
              </a:rPr>
              <a:t>Tout ce qu'il a lu pendant son entraînement : culture générale, langues, raisonnement, style.</a:t>
            </a:r>
            <a:endParaRPr lang="en-US" sz="1500" dirty="0"/>
          </a:p>
        </p:txBody>
      </p:sp>
      <p:sp>
        <p:nvSpPr>
          <p:cNvPr id="8" name="Shape 6"/>
          <p:cNvSpPr/>
          <p:nvPr/>
        </p:nvSpPr>
        <p:spPr>
          <a:xfrm>
            <a:off x="4754880" y="1234440"/>
            <a:ext cx="3931920" cy="2148840"/>
          </a:xfrm>
          <a:prstGeom prst="roundRect">
            <a:avLst>
              <a:gd name="adj" fmla="val 5106"/>
            </a:avLst>
          </a:prstGeom>
          <a:solidFill>
            <a:srgbClr val="F1EEF7"/>
          </a:solidFill>
          <a:ln w="12700">
            <a:solidFill>
              <a:srgbClr val="F1EEF7"/>
            </a:solidFill>
            <a:prstDash val="solid"/>
          </a:ln>
        </p:spPr>
      </p:sp>
      <p:sp>
        <p:nvSpPr>
          <p:cNvPr id="9" name="Shape 7"/>
          <p:cNvSpPr/>
          <p:nvPr/>
        </p:nvSpPr>
        <p:spPr>
          <a:xfrm>
            <a:off x="5029200" y="1463040"/>
            <a:ext cx="457200" cy="457200"/>
          </a:xfrm>
          <a:prstGeom prst="ellipse">
            <a:avLst/>
          </a:prstGeom>
          <a:solidFill>
            <a:srgbClr val="E07A5F"/>
          </a:solidFill>
          <a:ln w="12700">
            <a:solidFill>
              <a:srgbClr val="E07A5F"/>
            </a:solidFill>
            <a:prstDash val="solid"/>
          </a:ln>
        </p:spPr>
      </p:sp>
      <p:sp>
        <p:nvSpPr>
          <p:cNvPr id="10" name="Text 8"/>
          <p:cNvSpPr txBox="1"/>
          <p:nvPr/>
        </p:nvSpPr>
        <p:spPr>
          <a:xfrm>
            <a:off x="5029200" y="1463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1" name="Text 9"/>
          <p:cNvSpPr txBox="1"/>
          <p:nvPr/>
        </p:nvSpPr>
        <p:spPr>
          <a:xfrm>
            <a:off x="5669280" y="1508760"/>
            <a:ext cx="2743200" cy="411480"/>
          </a:xfrm>
          <a:prstGeom prst="rect">
            <a:avLst/>
          </a:prstGeom>
          <a:noFill/>
          <a:ln/>
        </p:spPr>
        <p:txBody>
          <a:bodyPr wrap="square" lIns="0" tIns="0" rIns="0" bIns="0" rtlCol="0" anchor="t"/>
          <a:lstStyle/>
          <a:p>
            <a:pPr indent="0" marL="0">
              <a:buNone/>
            </a:pPr>
            <a:r>
              <a:rPr lang="en-US" sz="2000" b="1" dirty="0">
                <a:solidFill>
                  <a:srgbClr val="22223B"/>
                </a:solidFill>
                <a:latin typeface="Cambria" pitchFamily="34" charset="0"/>
                <a:ea typeface="Cambria" pitchFamily="34" charset="-122"/>
                <a:cs typeface="Cambria" pitchFamily="34" charset="-120"/>
              </a:rPr>
              <a:t>Ce qu'il ignore</a:t>
            </a:r>
            <a:endParaRPr lang="en-US" sz="2000" dirty="0"/>
          </a:p>
        </p:txBody>
      </p:sp>
      <p:sp>
        <p:nvSpPr>
          <p:cNvPr id="12" name="Text 10"/>
          <p:cNvSpPr txBox="1"/>
          <p:nvPr/>
        </p:nvSpPr>
        <p:spPr>
          <a:xfrm>
            <a:off x="5029200" y="2103120"/>
            <a:ext cx="3474720" cy="1097280"/>
          </a:xfrm>
          <a:prstGeom prst="rect">
            <a:avLst/>
          </a:prstGeom>
          <a:noFill/>
          <a:ln/>
        </p:spPr>
        <p:txBody>
          <a:bodyPr wrap="square" lIns="0" tIns="0" rIns="0" bIns="0" rtlCol="0" anchor="t"/>
          <a:lstStyle/>
          <a:p>
            <a:pPr indent="0" marL="0">
              <a:buNone/>
            </a:pPr>
            <a:r>
              <a:rPr lang="en-US" sz="1500" dirty="0">
                <a:solidFill>
                  <a:srgbClr val="22223B"/>
                </a:solidFill>
                <a:latin typeface="Calibri" pitchFamily="34" charset="0"/>
                <a:ea typeface="Calibri" pitchFamily="34" charset="-122"/>
                <a:cs typeface="Calibri" pitchFamily="34" charset="-120"/>
              </a:rPr>
              <a:t>Vos contrats, vos procédures internes, vos rapports, et tout document publié après son entraînement.</a:t>
            </a:r>
            <a:endParaRPr lang="en-US" sz="1500" dirty="0"/>
          </a:p>
        </p:txBody>
      </p:sp>
      <p:sp>
        <p:nvSpPr>
          <p:cNvPr id="13" name="Text 11"/>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700" dirty="0">
                <a:solidFill>
                  <a:srgbClr val="22223B"/>
                </a:solidFill>
                <a:latin typeface="Calibri" pitchFamily="34" charset="0"/>
                <a:ea typeface="Calibri" pitchFamily="34" charset="-122"/>
                <a:cs typeface="Calibri" pitchFamily="34" charset="-120"/>
              </a:rPr>
              <a:t>Face à une question sur vos documents, il a deux options : </a:t>
            </a:r>
            <a:pPr indent="0" marL="0">
              <a:buNone/>
            </a:pPr>
            <a:r>
              <a:rPr lang="en-US" sz="1700" b="1" dirty="0">
                <a:solidFill>
                  <a:srgbClr val="E07A5F"/>
                </a:solidFill>
                <a:latin typeface="Calibri" pitchFamily="34" charset="0"/>
                <a:ea typeface="Calibri" pitchFamily="34" charset="-122"/>
                <a:cs typeface="Calibri" pitchFamily="34" charset="-120"/>
              </a:rPr>
              <a:t>avouer qu'il ne sait pas… ou inventer une réponse plausible.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La solution naïve : tout copier-coller</a:t>
            </a:r>
            <a:endParaRPr lang="en-US" sz="3000" dirty="0"/>
          </a:p>
        </p:txBody>
      </p:sp>
      <p:sp>
        <p:nvSpPr>
          <p:cNvPr id="3" name="Text 1"/>
          <p:cNvSpPr txBox="1"/>
          <p:nvPr/>
        </p:nvSpPr>
        <p:spPr>
          <a:xfrm>
            <a:off x="457200" y="1143000"/>
            <a:ext cx="8229600" cy="457200"/>
          </a:xfrm>
          <a:prstGeom prst="rect">
            <a:avLst/>
          </a:prstGeom>
          <a:noFill/>
          <a:ln/>
        </p:spPr>
        <p:txBody>
          <a:bodyPr wrap="square" lIns="0" tIns="0" rIns="0" bIns="0" rtlCol="0" anchor="t"/>
          <a:lstStyle/>
          <a:p>
            <a:pPr indent="0" marL="0">
              <a:buNone/>
            </a:pPr>
            <a:r>
              <a:rPr lang="en-US" sz="1600" dirty="0">
                <a:solidFill>
                  <a:srgbClr val="4A4E69"/>
                </a:solidFill>
                <a:latin typeface="Calibri" pitchFamily="34" charset="0"/>
                <a:ea typeface="Calibri" pitchFamily="34" charset="-122"/>
                <a:cs typeface="Calibri" pitchFamily="34" charset="-120"/>
              </a:rPr>
              <a:t>On colle le document entier dans la question, puis on demande au modèle de répondre.</a:t>
            </a:r>
            <a:endParaRPr lang="en-US" sz="1600" dirty="0"/>
          </a:p>
        </p:txBody>
      </p:sp>
      <p:sp>
        <p:nvSpPr>
          <p:cNvPr id="4" name="Shape 2"/>
          <p:cNvSpPr/>
          <p:nvPr/>
        </p:nvSpPr>
        <p:spPr>
          <a:xfrm>
            <a:off x="457200" y="1828800"/>
            <a:ext cx="3931920" cy="2651760"/>
          </a:xfrm>
          <a:prstGeom prst="roundRect">
            <a:avLst>
              <a:gd name="adj" fmla="val 4138"/>
            </a:avLst>
          </a:prstGeom>
          <a:solidFill>
            <a:srgbClr val="F1EEF7"/>
          </a:solidFill>
          <a:ln w="12700">
            <a:solidFill>
              <a:srgbClr val="F1EEF7"/>
            </a:solidFill>
            <a:prstDash val="solid"/>
          </a:ln>
        </p:spPr>
      </p:sp>
      <p:sp>
        <p:nvSpPr>
          <p:cNvPr id="5" name="Text 3"/>
          <p:cNvSpPr txBox="1"/>
          <p:nvPr/>
        </p:nvSpPr>
        <p:spPr>
          <a:xfrm>
            <a:off x="731520" y="2011680"/>
            <a:ext cx="3474720" cy="822960"/>
          </a:xfrm>
          <a:prstGeom prst="rect">
            <a:avLst/>
          </a:prstGeom>
          <a:noFill/>
          <a:ln/>
        </p:spPr>
        <p:txBody>
          <a:bodyPr wrap="square" lIns="0" tIns="0" rIns="0" bIns="0" rtlCol="0" anchor="t"/>
          <a:lstStyle/>
          <a:p>
            <a:pPr indent="0" marL="0">
              <a:buNone/>
            </a:pPr>
            <a:r>
              <a:rPr lang="en-US" sz="4400" b="1" dirty="0">
                <a:solidFill>
                  <a:srgbClr val="81B29A"/>
                </a:solidFill>
                <a:latin typeface="Cambria" pitchFamily="34" charset="0"/>
                <a:ea typeface="Cambria" pitchFamily="34" charset="-122"/>
                <a:cs typeface="Cambria" pitchFamily="34" charset="-120"/>
              </a:rPr>
              <a:t>3 pages</a:t>
            </a:r>
            <a:endParaRPr lang="en-US" sz="4400" dirty="0"/>
          </a:p>
        </p:txBody>
      </p:sp>
      <p:sp>
        <p:nvSpPr>
          <p:cNvPr id="6" name="Text 4"/>
          <p:cNvSpPr txBox="1"/>
          <p:nvPr/>
        </p:nvSpPr>
        <p:spPr>
          <a:xfrm>
            <a:off x="731520" y="2926080"/>
            <a:ext cx="3474720" cy="1280160"/>
          </a:xfrm>
          <a:prstGeom prst="rect">
            <a:avLst/>
          </a:prstGeom>
          <a:noFill/>
          <a:ln/>
        </p:spPr>
        <p:txBody>
          <a:bodyPr wrap="square" lIns="0" tIns="0" rIns="0" bIns="0" rtlCol="0" anchor="t"/>
          <a:lstStyle/>
          <a:p>
            <a:pPr indent="0" marL="0">
              <a:buNone/>
            </a:pPr>
            <a:r>
              <a:rPr lang="en-US" sz="1500" dirty="0">
                <a:solidFill>
                  <a:srgbClr val="22223B"/>
                </a:solidFill>
                <a:latin typeface="Calibri" pitchFamily="34" charset="0"/>
                <a:ea typeface="Calibri" pitchFamily="34" charset="-122"/>
                <a:cs typeface="Calibri" pitchFamily="34" charset="-120"/>
              </a:rPr>
              <a:t>Ça marche très bien. C'est exactement ce que vous faites quand vous collez un mail dans ChatGPT.</a:t>
            </a:r>
            <a:endParaRPr lang="en-US" sz="1500" dirty="0"/>
          </a:p>
        </p:txBody>
      </p:sp>
      <p:sp>
        <p:nvSpPr>
          <p:cNvPr id="7" name="Shape 5"/>
          <p:cNvSpPr/>
          <p:nvPr/>
        </p:nvSpPr>
        <p:spPr>
          <a:xfrm>
            <a:off x="4754880" y="1828800"/>
            <a:ext cx="3931920" cy="2651760"/>
          </a:xfrm>
          <a:prstGeom prst="roundRect">
            <a:avLst>
              <a:gd name="adj" fmla="val 4138"/>
            </a:avLst>
          </a:prstGeom>
          <a:solidFill>
            <a:srgbClr val="F1EEF7"/>
          </a:solidFill>
          <a:ln w="12700">
            <a:solidFill>
              <a:srgbClr val="F1EEF7"/>
            </a:solidFill>
            <a:prstDash val="solid"/>
          </a:ln>
        </p:spPr>
      </p:sp>
      <p:sp>
        <p:nvSpPr>
          <p:cNvPr id="8" name="Text 6"/>
          <p:cNvSpPr txBox="1"/>
          <p:nvPr/>
        </p:nvSpPr>
        <p:spPr>
          <a:xfrm>
            <a:off x="5029200" y="2011680"/>
            <a:ext cx="3474720" cy="822960"/>
          </a:xfrm>
          <a:prstGeom prst="rect">
            <a:avLst/>
          </a:prstGeom>
          <a:noFill/>
          <a:ln/>
        </p:spPr>
        <p:txBody>
          <a:bodyPr wrap="square" lIns="0" tIns="0" rIns="0" bIns="0" rtlCol="0" anchor="t"/>
          <a:lstStyle/>
          <a:p>
            <a:pPr indent="0" marL="0">
              <a:buNone/>
            </a:pPr>
            <a:r>
              <a:rPr lang="en-US" sz="4400" b="1" dirty="0">
                <a:solidFill>
                  <a:srgbClr val="E07A5F"/>
                </a:solidFill>
                <a:latin typeface="Cambria" pitchFamily="34" charset="0"/>
                <a:ea typeface="Cambria" pitchFamily="34" charset="-122"/>
                <a:cs typeface="Cambria" pitchFamily="34" charset="-120"/>
              </a:rPr>
              <a:t>5 000 pages</a:t>
            </a:r>
            <a:endParaRPr lang="en-US" sz="4400" dirty="0"/>
          </a:p>
        </p:txBody>
      </p:sp>
      <p:sp>
        <p:nvSpPr>
          <p:cNvPr id="9" name="Text 7"/>
          <p:cNvSpPr txBox="1"/>
          <p:nvPr/>
        </p:nvSpPr>
        <p:spPr>
          <a:xfrm>
            <a:off x="5029200" y="2926080"/>
            <a:ext cx="3474720" cy="1280160"/>
          </a:xfrm>
          <a:prstGeom prst="rect">
            <a:avLst/>
          </a:prstGeom>
          <a:noFill/>
          <a:ln/>
        </p:spPr>
        <p:txBody>
          <a:bodyPr wrap="square" lIns="0" tIns="0" rIns="0" bIns="0" rtlCol="0" anchor="t"/>
          <a:lstStyle/>
          <a:p>
            <a:pPr indent="0" marL="0">
              <a:buNone/>
            </a:pPr>
            <a:r>
              <a:rPr lang="en-US" sz="1500" dirty="0">
                <a:solidFill>
                  <a:srgbClr val="22223B"/>
                </a:solidFill>
                <a:latin typeface="Calibri" pitchFamily="34" charset="0"/>
                <a:ea typeface="Calibri" pitchFamily="34" charset="-122"/>
                <a:cs typeface="Calibri" pitchFamily="34" charset="-120"/>
              </a:rPr>
              <a:t>Ça ne rentre pas dans la fenêtre du modèle, ça coûte cher, c'est lent, et le modèle se perd dans la masse.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Le RAG : ne coller que ce qui compte</a:t>
            </a:r>
            <a:endParaRPr lang="en-US" sz="3000" dirty="0"/>
          </a:p>
        </p:txBody>
      </p:sp>
      <p:sp>
        <p:nvSpPr>
          <p:cNvPr id="3" name="Shape 1"/>
          <p:cNvSpPr/>
          <p:nvPr/>
        </p:nvSpPr>
        <p:spPr>
          <a:xfrm>
            <a:off x="457200" y="1188720"/>
            <a:ext cx="2560320" cy="2423160"/>
          </a:xfrm>
          <a:prstGeom prst="roundRect">
            <a:avLst>
              <a:gd name="adj" fmla="val 4528"/>
            </a:avLst>
          </a:prstGeom>
          <a:solidFill>
            <a:srgbClr val="F1EEF7"/>
          </a:solidFill>
          <a:ln w="12700">
            <a:solidFill>
              <a:srgbClr val="F1EEF7"/>
            </a:solidFill>
            <a:prstDash val="solid"/>
          </a:ln>
        </p:spPr>
      </p:sp>
      <p:sp>
        <p:nvSpPr>
          <p:cNvPr id="4" name="Shape 2"/>
          <p:cNvSpPr/>
          <p:nvPr/>
        </p:nvSpPr>
        <p:spPr>
          <a:xfrm>
            <a:off x="731520" y="1417320"/>
            <a:ext cx="457200" cy="457200"/>
          </a:xfrm>
          <a:prstGeom prst="ellipse">
            <a:avLst/>
          </a:prstGeom>
          <a:solidFill>
            <a:srgbClr val="E07A5F"/>
          </a:solidFill>
          <a:ln w="12700">
            <a:solidFill>
              <a:srgbClr val="E07A5F"/>
            </a:solidFill>
            <a:prstDash val="solid"/>
          </a:ln>
        </p:spPr>
      </p:sp>
      <p:sp>
        <p:nvSpPr>
          <p:cNvPr id="5" name="Text 3"/>
          <p:cNvSpPr txBox="1"/>
          <p:nvPr/>
        </p:nvSpPr>
        <p:spPr>
          <a:xfrm>
            <a:off x="73152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1325880" y="1444752"/>
            <a:ext cx="1554480" cy="411480"/>
          </a:xfrm>
          <a:prstGeom prst="rect">
            <a:avLst/>
          </a:prstGeom>
          <a:noFill/>
          <a:ln/>
        </p:spPr>
        <p:txBody>
          <a:bodyPr wrap="square" lIns="0" tIns="0" rIns="0" bIns="0" rtlCol="0" anchor="t"/>
          <a:lstStyle/>
          <a:p>
            <a:pPr indent="0" marL="0">
              <a:buNone/>
            </a:pPr>
            <a:r>
              <a:rPr lang="en-US" sz="2000" b="1" dirty="0">
                <a:solidFill>
                  <a:srgbClr val="22223B"/>
                </a:solidFill>
                <a:latin typeface="Cambria" pitchFamily="34" charset="0"/>
                <a:ea typeface="Cambria" pitchFamily="34" charset="-122"/>
                <a:cs typeface="Cambria" pitchFamily="34" charset="-120"/>
              </a:rPr>
              <a:t>Chercher</a:t>
            </a:r>
            <a:endParaRPr lang="en-US" sz="2000" dirty="0"/>
          </a:p>
        </p:txBody>
      </p:sp>
      <p:sp>
        <p:nvSpPr>
          <p:cNvPr id="7" name="Text 5"/>
          <p:cNvSpPr txBox="1"/>
          <p:nvPr/>
        </p:nvSpPr>
        <p:spPr>
          <a:xfrm>
            <a:off x="731520" y="2011680"/>
            <a:ext cx="2103120" cy="320040"/>
          </a:xfrm>
          <a:prstGeom prst="rect">
            <a:avLst/>
          </a:prstGeom>
          <a:noFill/>
          <a:ln/>
        </p:spPr>
        <p:txBody>
          <a:bodyPr wrap="square" lIns="0" tIns="0" rIns="0" bIns="0" rtlCol="0" anchor="t"/>
          <a:lstStyle/>
          <a:p>
            <a:pPr indent="0" marL="0">
              <a:buNone/>
            </a:pPr>
            <a:r>
              <a:rPr lang="en-US" sz="1200" i="1" dirty="0">
                <a:solidFill>
                  <a:srgbClr val="6B6E80"/>
                </a:solidFill>
                <a:latin typeface="Calibri" pitchFamily="34" charset="0"/>
                <a:ea typeface="Calibri" pitchFamily="34" charset="-122"/>
                <a:cs typeface="Calibri" pitchFamily="34" charset="-120"/>
              </a:rPr>
              <a:t>Retrieval</a:t>
            </a:r>
            <a:endParaRPr lang="en-US" sz="1200" dirty="0"/>
          </a:p>
        </p:txBody>
      </p:sp>
      <p:sp>
        <p:nvSpPr>
          <p:cNvPr id="8" name="Text 6"/>
          <p:cNvSpPr txBox="1"/>
          <p:nvPr/>
        </p:nvSpPr>
        <p:spPr>
          <a:xfrm>
            <a:off x="731520" y="237744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Retrouver dans vos documents les quelques passages qui parlent de la question.</a:t>
            </a:r>
            <a:endParaRPr lang="en-US" sz="1400" dirty="0"/>
          </a:p>
        </p:txBody>
      </p:sp>
      <p:sp>
        <p:nvSpPr>
          <p:cNvPr id="9" name="Shape 7"/>
          <p:cNvSpPr/>
          <p:nvPr/>
        </p:nvSpPr>
        <p:spPr>
          <a:xfrm>
            <a:off x="3291840" y="1188720"/>
            <a:ext cx="2560320" cy="2423160"/>
          </a:xfrm>
          <a:prstGeom prst="roundRect">
            <a:avLst>
              <a:gd name="adj" fmla="val 4528"/>
            </a:avLst>
          </a:prstGeom>
          <a:solidFill>
            <a:srgbClr val="F1EEF7"/>
          </a:solidFill>
          <a:ln w="12700">
            <a:solidFill>
              <a:srgbClr val="F1EEF7"/>
            </a:solidFill>
            <a:prstDash val="solid"/>
          </a:ln>
        </p:spPr>
      </p:sp>
      <p:sp>
        <p:nvSpPr>
          <p:cNvPr id="10" name="Shape 8"/>
          <p:cNvSpPr/>
          <p:nvPr/>
        </p:nvSpPr>
        <p:spPr>
          <a:xfrm>
            <a:off x="3566160" y="1417320"/>
            <a:ext cx="457200" cy="457200"/>
          </a:xfrm>
          <a:prstGeom prst="ellipse">
            <a:avLst/>
          </a:prstGeom>
          <a:solidFill>
            <a:srgbClr val="E07A5F"/>
          </a:solidFill>
          <a:ln w="12700">
            <a:solidFill>
              <a:srgbClr val="E07A5F"/>
            </a:solidFill>
            <a:prstDash val="solid"/>
          </a:ln>
        </p:spPr>
      </p:sp>
      <p:sp>
        <p:nvSpPr>
          <p:cNvPr id="11" name="Text 9"/>
          <p:cNvSpPr txBox="1"/>
          <p:nvPr/>
        </p:nvSpPr>
        <p:spPr>
          <a:xfrm>
            <a:off x="356616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4160520" y="1444752"/>
            <a:ext cx="1554480" cy="411480"/>
          </a:xfrm>
          <a:prstGeom prst="rect">
            <a:avLst/>
          </a:prstGeom>
          <a:noFill/>
          <a:ln/>
        </p:spPr>
        <p:txBody>
          <a:bodyPr wrap="square" lIns="0" tIns="0" rIns="0" bIns="0" rtlCol="0" anchor="t"/>
          <a:lstStyle/>
          <a:p>
            <a:pPr indent="0" marL="0">
              <a:buNone/>
            </a:pPr>
            <a:r>
              <a:rPr lang="en-US" sz="2000" b="1" dirty="0">
                <a:solidFill>
                  <a:srgbClr val="22223B"/>
                </a:solidFill>
                <a:latin typeface="Cambria" pitchFamily="34" charset="0"/>
                <a:ea typeface="Cambria" pitchFamily="34" charset="-122"/>
                <a:cs typeface="Cambria" pitchFamily="34" charset="-120"/>
              </a:rPr>
              <a:t>Coller</a:t>
            </a:r>
            <a:endParaRPr lang="en-US" sz="2000" dirty="0"/>
          </a:p>
        </p:txBody>
      </p:sp>
      <p:sp>
        <p:nvSpPr>
          <p:cNvPr id="13" name="Text 11"/>
          <p:cNvSpPr txBox="1"/>
          <p:nvPr/>
        </p:nvSpPr>
        <p:spPr>
          <a:xfrm>
            <a:off x="3566160" y="2011680"/>
            <a:ext cx="2103120" cy="320040"/>
          </a:xfrm>
          <a:prstGeom prst="rect">
            <a:avLst/>
          </a:prstGeom>
          <a:noFill/>
          <a:ln/>
        </p:spPr>
        <p:txBody>
          <a:bodyPr wrap="square" lIns="0" tIns="0" rIns="0" bIns="0" rtlCol="0" anchor="t"/>
          <a:lstStyle/>
          <a:p>
            <a:pPr indent="0" marL="0">
              <a:buNone/>
            </a:pPr>
            <a:r>
              <a:rPr lang="en-US" sz="1200" i="1" dirty="0">
                <a:solidFill>
                  <a:srgbClr val="6B6E80"/>
                </a:solidFill>
                <a:latin typeface="Calibri" pitchFamily="34" charset="0"/>
                <a:ea typeface="Calibri" pitchFamily="34" charset="-122"/>
                <a:cs typeface="Calibri" pitchFamily="34" charset="-120"/>
              </a:rPr>
              <a:t>Augmented</a:t>
            </a:r>
            <a:endParaRPr lang="en-US" sz="1200" dirty="0"/>
          </a:p>
        </p:txBody>
      </p:sp>
      <p:sp>
        <p:nvSpPr>
          <p:cNvPr id="14" name="Text 12"/>
          <p:cNvSpPr txBox="1"/>
          <p:nvPr/>
        </p:nvSpPr>
        <p:spPr>
          <a:xfrm>
            <a:off x="3566160" y="237744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Ajouter ces passages à la question, comme vous le feriez à la main.</a:t>
            </a:r>
            <a:endParaRPr lang="en-US" sz="1400" dirty="0"/>
          </a:p>
        </p:txBody>
      </p:sp>
      <p:sp>
        <p:nvSpPr>
          <p:cNvPr id="15" name="Shape 13"/>
          <p:cNvSpPr/>
          <p:nvPr/>
        </p:nvSpPr>
        <p:spPr>
          <a:xfrm>
            <a:off x="6126480" y="1188720"/>
            <a:ext cx="2560320" cy="2423160"/>
          </a:xfrm>
          <a:prstGeom prst="roundRect">
            <a:avLst>
              <a:gd name="adj" fmla="val 4528"/>
            </a:avLst>
          </a:prstGeom>
          <a:solidFill>
            <a:srgbClr val="F1EEF7"/>
          </a:solidFill>
          <a:ln w="12700">
            <a:solidFill>
              <a:srgbClr val="F1EEF7"/>
            </a:solidFill>
            <a:prstDash val="solid"/>
          </a:ln>
        </p:spPr>
      </p:sp>
      <p:sp>
        <p:nvSpPr>
          <p:cNvPr id="16" name="Shape 14"/>
          <p:cNvSpPr/>
          <p:nvPr/>
        </p:nvSpPr>
        <p:spPr>
          <a:xfrm>
            <a:off x="6400800" y="1417320"/>
            <a:ext cx="457200" cy="457200"/>
          </a:xfrm>
          <a:prstGeom prst="ellipse">
            <a:avLst/>
          </a:prstGeom>
          <a:solidFill>
            <a:srgbClr val="E07A5F"/>
          </a:solidFill>
          <a:ln w="12700">
            <a:solidFill>
              <a:srgbClr val="E07A5F"/>
            </a:solidFill>
            <a:prstDash val="solid"/>
          </a:ln>
        </p:spPr>
      </p:sp>
      <p:sp>
        <p:nvSpPr>
          <p:cNvPr id="17" name="Text 15"/>
          <p:cNvSpPr txBox="1"/>
          <p:nvPr/>
        </p:nvSpPr>
        <p:spPr>
          <a:xfrm>
            <a:off x="6400800" y="1417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6995160" y="1444752"/>
            <a:ext cx="1554480" cy="411480"/>
          </a:xfrm>
          <a:prstGeom prst="rect">
            <a:avLst/>
          </a:prstGeom>
          <a:noFill/>
          <a:ln/>
        </p:spPr>
        <p:txBody>
          <a:bodyPr wrap="square" lIns="0" tIns="0" rIns="0" bIns="0" rtlCol="0" anchor="t"/>
          <a:lstStyle/>
          <a:p>
            <a:pPr indent="0" marL="0">
              <a:buNone/>
            </a:pPr>
            <a:r>
              <a:rPr lang="en-US" sz="2000" b="1" dirty="0">
                <a:solidFill>
                  <a:srgbClr val="22223B"/>
                </a:solidFill>
                <a:latin typeface="Cambria" pitchFamily="34" charset="0"/>
                <a:ea typeface="Cambria" pitchFamily="34" charset="-122"/>
                <a:cs typeface="Cambria" pitchFamily="34" charset="-120"/>
              </a:rPr>
              <a:t>Répondre</a:t>
            </a:r>
            <a:endParaRPr lang="en-US" sz="2000" dirty="0"/>
          </a:p>
        </p:txBody>
      </p:sp>
      <p:sp>
        <p:nvSpPr>
          <p:cNvPr id="19" name="Text 17"/>
          <p:cNvSpPr txBox="1"/>
          <p:nvPr/>
        </p:nvSpPr>
        <p:spPr>
          <a:xfrm>
            <a:off x="6400800" y="2011680"/>
            <a:ext cx="2103120" cy="320040"/>
          </a:xfrm>
          <a:prstGeom prst="rect">
            <a:avLst/>
          </a:prstGeom>
          <a:noFill/>
          <a:ln/>
        </p:spPr>
        <p:txBody>
          <a:bodyPr wrap="square" lIns="0" tIns="0" rIns="0" bIns="0" rtlCol="0" anchor="t"/>
          <a:lstStyle/>
          <a:p>
            <a:pPr indent="0" marL="0">
              <a:buNone/>
            </a:pPr>
            <a:r>
              <a:rPr lang="en-US" sz="1200" i="1" dirty="0">
                <a:solidFill>
                  <a:srgbClr val="6B6E80"/>
                </a:solidFill>
                <a:latin typeface="Calibri" pitchFamily="34" charset="0"/>
                <a:ea typeface="Calibri" pitchFamily="34" charset="-122"/>
                <a:cs typeface="Calibri" pitchFamily="34" charset="-120"/>
              </a:rPr>
              <a:t>Generation</a:t>
            </a:r>
            <a:endParaRPr lang="en-US" sz="1200" dirty="0"/>
          </a:p>
        </p:txBody>
      </p:sp>
      <p:sp>
        <p:nvSpPr>
          <p:cNvPr id="20" name="Text 18"/>
          <p:cNvSpPr txBox="1"/>
          <p:nvPr/>
        </p:nvSpPr>
        <p:spPr>
          <a:xfrm>
            <a:off x="6400800" y="237744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Le modèle rédige sa réponse en s'appuyant sur ces passages.</a:t>
            </a:r>
            <a:endParaRPr lang="en-US" sz="1400" dirty="0"/>
          </a:p>
        </p:txBody>
      </p:sp>
      <p:sp>
        <p:nvSpPr>
          <p:cNvPr id="21" name="Text 19"/>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700" b="1" dirty="0">
                <a:solidFill>
                  <a:srgbClr val="E07A5F"/>
                </a:solidFill>
                <a:latin typeface="Calibri" pitchFamily="34" charset="0"/>
                <a:ea typeface="Calibri" pitchFamily="34" charset="-122"/>
                <a:cs typeface="Calibri" pitchFamily="34" charset="-120"/>
              </a:rPr>
              <a:t>Un examen à livre ouvert : </a:t>
            </a:r>
            <a:pPr indent="0" marL="0">
              <a:buNone/>
            </a:pPr>
            <a:r>
              <a:rPr lang="en-US" sz="1700" dirty="0">
                <a:solidFill>
                  <a:srgbClr val="22223B"/>
                </a:solidFill>
                <a:latin typeface="Calibri" pitchFamily="34" charset="0"/>
                <a:ea typeface="Calibri" pitchFamily="34" charset="-122"/>
                <a:cs typeface="Calibri" pitchFamily="34" charset="-120"/>
              </a:rPr>
              <a:t>on ne connaît pas tout par cœur, mais on sait où chercher.</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Oui mais… comment trouver les bons passages ?</a:t>
            </a:r>
            <a:endParaRPr lang="en-US" sz="3000" dirty="0"/>
          </a:p>
        </p:txBody>
      </p:sp>
      <p:sp>
        <p:nvSpPr>
          <p:cNvPr id="3" name="Shape 1"/>
          <p:cNvSpPr/>
          <p:nvPr/>
        </p:nvSpPr>
        <p:spPr>
          <a:xfrm>
            <a:off x="457200" y="1280160"/>
            <a:ext cx="3566160" cy="1371600"/>
          </a:xfrm>
          <a:prstGeom prst="roundRect">
            <a:avLst>
              <a:gd name="adj" fmla="val 8000"/>
            </a:avLst>
          </a:prstGeom>
          <a:solidFill>
            <a:srgbClr val="F1EEF7"/>
          </a:solidFill>
          <a:ln w="12700">
            <a:solidFill>
              <a:srgbClr val="F1EEF7"/>
            </a:solidFill>
            <a:prstDash val="solid"/>
          </a:ln>
        </p:spPr>
      </p:sp>
      <p:sp>
        <p:nvSpPr>
          <p:cNvPr id="4" name="Text 2"/>
          <p:cNvSpPr txBox="1"/>
          <p:nvPr/>
        </p:nvSpPr>
        <p:spPr>
          <a:xfrm>
            <a:off x="731520" y="1417320"/>
            <a:ext cx="3108960" cy="320040"/>
          </a:xfrm>
          <a:prstGeom prst="rect">
            <a:avLst/>
          </a:prstGeom>
          <a:noFill/>
          <a:ln/>
        </p:spPr>
        <p:txBody>
          <a:bodyPr wrap="square" lIns="0" tIns="0" rIns="0" bIns="0" rtlCol="0" anchor="t"/>
          <a:lstStyle/>
          <a:p>
            <a:pPr indent="0" marL="0">
              <a:buNone/>
            </a:pPr>
            <a:r>
              <a:rPr lang="en-US" sz="1200" dirty="0">
                <a:solidFill>
                  <a:srgbClr val="6B6E80"/>
                </a:solidFill>
                <a:latin typeface="Calibri" pitchFamily="34" charset="0"/>
                <a:ea typeface="Calibri" pitchFamily="34" charset="-122"/>
                <a:cs typeface="Calibri" pitchFamily="34" charset="-120"/>
              </a:rPr>
              <a:t>La question</a:t>
            </a:r>
            <a:endParaRPr lang="en-US" sz="1200" dirty="0"/>
          </a:p>
        </p:txBody>
      </p:sp>
      <p:sp>
        <p:nvSpPr>
          <p:cNvPr id="5" name="Text 3"/>
          <p:cNvSpPr txBox="1"/>
          <p:nvPr/>
        </p:nvSpPr>
        <p:spPr>
          <a:xfrm>
            <a:off x="731520" y="1783080"/>
            <a:ext cx="3108960" cy="731520"/>
          </a:xfrm>
          <a:prstGeom prst="rect">
            <a:avLst/>
          </a:prstGeom>
          <a:noFill/>
          <a:ln/>
        </p:spPr>
        <p:txBody>
          <a:bodyPr wrap="square" lIns="0" tIns="0" rIns="0" bIns="0" rtlCol="0" anchor="t"/>
          <a:lstStyle/>
          <a:p>
            <a:pPr indent="0" marL="0">
              <a:buNone/>
            </a:pPr>
            <a:r>
              <a:rPr lang="en-US" sz="1800" b="1" dirty="0">
                <a:solidFill>
                  <a:srgbClr val="22223B"/>
                </a:solidFill>
                <a:latin typeface="Cambria" pitchFamily="34" charset="0"/>
                <a:ea typeface="Cambria" pitchFamily="34" charset="-122"/>
                <a:cs typeface="Cambria" pitchFamily="34" charset="-120"/>
              </a:rPr>
              <a:t>« Comment résilier mon abonnement ? »</a:t>
            </a:r>
            <a:endParaRPr lang="en-US" sz="1800" dirty="0"/>
          </a:p>
        </p:txBody>
      </p:sp>
      <p:sp>
        <p:nvSpPr>
          <p:cNvPr id="6" name="Shape 4"/>
          <p:cNvSpPr/>
          <p:nvPr/>
        </p:nvSpPr>
        <p:spPr>
          <a:xfrm>
            <a:off x="5120640" y="1280160"/>
            <a:ext cx="3566160" cy="1371600"/>
          </a:xfrm>
          <a:prstGeom prst="roundRect">
            <a:avLst>
              <a:gd name="adj" fmla="val 8000"/>
            </a:avLst>
          </a:prstGeom>
          <a:solidFill>
            <a:srgbClr val="F1EEF7"/>
          </a:solidFill>
          <a:ln w="12700">
            <a:solidFill>
              <a:srgbClr val="F1EEF7"/>
            </a:solidFill>
            <a:prstDash val="solid"/>
          </a:ln>
        </p:spPr>
      </p:sp>
      <p:sp>
        <p:nvSpPr>
          <p:cNvPr id="7" name="Text 5"/>
          <p:cNvSpPr txBox="1"/>
          <p:nvPr/>
        </p:nvSpPr>
        <p:spPr>
          <a:xfrm>
            <a:off x="5394960" y="1417320"/>
            <a:ext cx="3108960" cy="320040"/>
          </a:xfrm>
          <a:prstGeom prst="rect">
            <a:avLst/>
          </a:prstGeom>
          <a:noFill/>
          <a:ln/>
        </p:spPr>
        <p:txBody>
          <a:bodyPr wrap="square" lIns="0" tIns="0" rIns="0" bIns="0" rtlCol="0" anchor="t"/>
          <a:lstStyle/>
          <a:p>
            <a:pPr indent="0" marL="0">
              <a:buNone/>
            </a:pPr>
            <a:r>
              <a:rPr lang="en-US" sz="1200" dirty="0">
                <a:solidFill>
                  <a:srgbClr val="6B6E80"/>
                </a:solidFill>
                <a:latin typeface="Calibri" pitchFamily="34" charset="0"/>
                <a:ea typeface="Calibri" pitchFamily="34" charset="-122"/>
                <a:cs typeface="Calibri" pitchFamily="34" charset="-120"/>
              </a:rPr>
              <a:t>Le passage dans le contrat</a:t>
            </a:r>
            <a:endParaRPr lang="en-US" sz="1200" dirty="0"/>
          </a:p>
        </p:txBody>
      </p:sp>
      <p:sp>
        <p:nvSpPr>
          <p:cNvPr id="8" name="Text 6"/>
          <p:cNvSpPr txBox="1"/>
          <p:nvPr/>
        </p:nvSpPr>
        <p:spPr>
          <a:xfrm>
            <a:off x="5394960" y="1783080"/>
            <a:ext cx="3108960" cy="731520"/>
          </a:xfrm>
          <a:prstGeom prst="rect">
            <a:avLst/>
          </a:prstGeom>
          <a:noFill/>
          <a:ln/>
        </p:spPr>
        <p:txBody>
          <a:bodyPr wrap="square" lIns="0" tIns="0" rIns="0" bIns="0" rtlCol="0" anchor="t"/>
          <a:lstStyle/>
          <a:p>
            <a:pPr indent="0" marL="0">
              <a:buNone/>
            </a:pPr>
            <a:r>
              <a:rPr lang="en-US" sz="1600" b="1" dirty="0">
                <a:solidFill>
                  <a:srgbClr val="22223B"/>
                </a:solidFill>
                <a:latin typeface="Cambria" pitchFamily="34" charset="0"/>
                <a:ea typeface="Cambria" pitchFamily="34" charset="-122"/>
                <a:cs typeface="Cambria" pitchFamily="34" charset="-120"/>
              </a:rPr>
              <a:t>« Le client peut mettre fin au contrat par lettre recommandée. »</a:t>
            </a:r>
            <a:endParaRPr lang="en-US" sz="1600" dirty="0"/>
          </a:p>
        </p:txBody>
      </p:sp>
      <p:sp>
        <p:nvSpPr>
          <p:cNvPr id="9" name="Shape 7"/>
          <p:cNvSpPr/>
          <p:nvPr/>
        </p:nvSpPr>
        <p:spPr>
          <a:xfrm>
            <a:off x="4160520" y="1554480"/>
            <a:ext cx="822960" cy="822960"/>
          </a:xfrm>
          <a:prstGeom prst="ellipse">
            <a:avLst/>
          </a:prstGeom>
          <a:solidFill>
            <a:srgbClr val="E07A5F"/>
          </a:solidFill>
          <a:ln w="12700">
            <a:solidFill>
              <a:srgbClr val="E07A5F"/>
            </a:solidFill>
            <a:prstDash val="solid"/>
          </a:ln>
        </p:spPr>
      </p:sp>
      <p:sp>
        <p:nvSpPr>
          <p:cNvPr id="10" name="Text 8"/>
          <p:cNvSpPr txBox="1"/>
          <p:nvPr/>
        </p:nvSpPr>
        <p:spPr>
          <a:xfrm>
            <a:off x="4160520" y="155448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11" name="Text 9"/>
          <p:cNvSpPr txBox="1"/>
          <p:nvPr/>
        </p:nvSpPr>
        <p:spPr>
          <a:xfrm>
            <a:off x="3749040" y="2423160"/>
            <a:ext cx="1645920" cy="274320"/>
          </a:xfrm>
          <a:prstGeom prst="rect">
            <a:avLst/>
          </a:prstGeom>
          <a:noFill/>
          <a:ln/>
        </p:spPr>
        <p:txBody>
          <a:bodyPr wrap="square" lIns="0" tIns="0" rIns="0" bIns="0" rtlCol="0" anchor="t"/>
          <a:lstStyle/>
          <a:p>
            <a:pPr algn="ctr" indent="0" marL="0">
              <a:buNone/>
            </a:pPr>
            <a:r>
              <a:rPr lang="en-US" sz="1100" dirty="0">
                <a:solidFill>
                  <a:srgbClr val="E07A5F"/>
                </a:solidFill>
                <a:latin typeface="Calibri" pitchFamily="34" charset="0"/>
                <a:ea typeface="Calibri" pitchFamily="34" charset="-122"/>
                <a:cs typeface="Calibri" pitchFamily="34" charset="-120"/>
              </a:rPr>
              <a:t>mot en commun</a:t>
            </a:r>
            <a:endParaRPr lang="en-US" sz="1100" dirty="0"/>
          </a:p>
        </p:txBody>
      </p:sp>
      <p:sp>
        <p:nvSpPr>
          <p:cNvPr id="12" name="Text 10"/>
          <p:cNvSpPr txBox="1"/>
          <p:nvPr/>
        </p:nvSpPr>
        <p:spPr>
          <a:xfrm>
            <a:off x="457200" y="3017520"/>
            <a:ext cx="8229600" cy="146304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2223B"/>
                </a:solidFill>
                <a:latin typeface="Calibri" pitchFamily="34" charset="0"/>
                <a:ea typeface="Calibri" pitchFamily="34" charset="-122"/>
                <a:cs typeface="Calibri" pitchFamily="34" charset="-120"/>
              </a:rPr>
              <a:t>Une recherche par mots-clés (CTRL+F, LIKE en SQL) ne trouve rien.</a:t>
            </a:r>
            <a:endParaRPr lang="en-US" sz="1600" dirty="0"/>
          </a:p>
          <a:p>
            <a:pPr marL="342900" indent="-342900">
              <a:spcAft>
                <a:spcPts val="600"/>
              </a:spcAft>
              <a:buSzPct val="100000"/>
              <a:buChar char="•"/>
            </a:pPr>
            <a:r>
              <a:rPr lang="en-US" sz="1600" dirty="0">
                <a:solidFill>
                  <a:srgbClr val="22223B"/>
                </a:solidFill>
                <a:latin typeface="Calibri" pitchFamily="34" charset="0"/>
                <a:ea typeface="Calibri" pitchFamily="34" charset="-122"/>
                <a:cs typeface="Calibri" pitchFamily="34" charset="-120"/>
              </a:rPr>
              <a:t>Pourtant, les deux phrases disent la même chose.</a:t>
            </a:r>
            <a:endParaRPr lang="en-US" sz="1600" dirty="0"/>
          </a:p>
          <a:p>
            <a:pPr marL="342900" indent="-342900">
              <a:spcAft>
                <a:spcPts val="600"/>
              </a:spcAft>
              <a:buSzPct val="100000"/>
              <a:buChar char="•"/>
            </a:pPr>
            <a:r>
              <a:rPr lang="en-US" sz="1600" b="1" dirty="0">
                <a:solidFill>
                  <a:srgbClr val="E07A5F"/>
                </a:solidFill>
                <a:latin typeface="Calibri" pitchFamily="34" charset="0"/>
                <a:ea typeface="Calibri" pitchFamily="34" charset="-122"/>
                <a:cs typeface="Calibri" pitchFamily="34" charset="-120"/>
              </a:rPr>
              <a:t>Il faut donc chercher par le sens, pas par les mots.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L'embedding : des coordonnées pour le sens</a:t>
            </a:r>
            <a:endParaRPr lang="en-US" sz="3000" dirty="0"/>
          </a:p>
        </p:txBody>
      </p:sp>
      <p:sp>
        <p:nvSpPr>
          <p:cNvPr id="3" name="Text 1"/>
          <p:cNvSpPr txBox="1"/>
          <p:nvPr/>
        </p:nvSpPr>
        <p:spPr>
          <a:xfrm>
            <a:off x="457200" y="1234440"/>
            <a:ext cx="3291840" cy="3108960"/>
          </a:xfrm>
          <a:prstGeom prst="rect">
            <a:avLst/>
          </a:prstGeom>
          <a:noFill/>
          <a:ln/>
        </p:spPr>
        <p:txBody>
          <a:bodyPr wrap="square" lIns="0" tIns="0" rIns="0" bIns="0" rtlCol="0" anchor="t"/>
          <a:lstStyle/>
          <a:p>
            <a:pPr indent="0" marL="0">
              <a:buNone/>
            </a:pPr>
            <a:r>
              <a:rPr lang="en-US" sz="1600" dirty="0">
                <a:solidFill>
                  <a:srgbClr val="22223B"/>
                </a:solidFill>
                <a:latin typeface="Calibri" pitchFamily="34" charset="0"/>
                <a:ea typeface="Calibri" pitchFamily="34" charset="-122"/>
                <a:cs typeface="Calibri" pitchFamily="34" charset="-120"/>
              </a:rPr>
              <a:t>Un modèle d'embedding transforme chaque texte en une liste de nombres.</a:t>
            </a:r>
            <a:endParaRPr lang="en-US" sz="1600" dirty="0"/>
          </a:p>
          <a:p>
            <a:pPr indent="0" marL="0">
              <a:buNone/>
            </a:pPr>
            <a:r>
              <a:rPr lang="en-US" sz="800" dirty="0">
                <a:solidFill>
                  <a:srgbClr val="22223B"/>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22223B"/>
                </a:solidFill>
                <a:latin typeface="Calibri" pitchFamily="34" charset="0"/>
                <a:ea typeface="Calibri" pitchFamily="34" charset="-122"/>
                <a:cs typeface="Calibri" pitchFamily="34" charset="-120"/>
              </a:rPr>
              <a:t>Cette liste, c'est une position sur une carte du sens.</a:t>
            </a:r>
            <a:endParaRPr lang="en-US" sz="1600" dirty="0"/>
          </a:p>
          <a:p>
            <a:pPr indent="0" marL="0">
              <a:buNone/>
            </a:pPr>
            <a:r>
              <a:rPr lang="en-US" sz="800" dirty="0">
                <a:solidFill>
                  <a:srgbClr val="22223B"/>
                </a:solidFill>
                <a:latin typeface="Calibri" pitchFamily="34" charset="0"/>
                <a:ea typeface="Calibri" pitchFamily="34" charset="-122"/>
                <a:cs typeface="Calibri" pitchFamily="34" charset="-120"/>
              </a:rPr>
              <a:t> </a:t>
            </a:r>
            <a:endParaRPr lang="en-US" sz="1600" dirty="0"/>
          </a:p>
          <a:p>
            <a:pPr indent="0" marL="0">
              <a:buNone/>
            </a:pPr>
            <a:r>
              <a:rPr lang="en-US" sz="1600" b="1" dirty="0">
                <a:solidFill>
                  <a:srgbClr val="E07A5F"/>
                </a:solidFill>
                <a:latin typeface="Calibri" pitchFamily="34" charset="0"/>
                <a:ea typeface="Calibri" pitchFamily="34" charset="-122"/>
                <a:cs typeface="Calibri" pitchFamily="34" charset="-120"/>
              </a:rPr>
              <a:t>Deux textes de sens proche tombent à des endroits proches, même sans aucun mot commun.</a:t>
            </a:r>
            <a:endParaRPr lang="en-US" sz="1600" dirty="0"/>
          </a:p>
        </p:txBody>
      </p:sp>
      <p:sp>
        <p:nvSpPr>
          <p:cNvPr id="4" name="Shape 2"/>
          <p:cNvSpPr/>
          <p:nvPr/>
        </p:nvSpPr>
        <p:spPr>
          <a:xfrm>
            <a:off x="4023360" y="1097280"/>
            <a:ext cx="4663440" cy="3566160"/>
          </a:xfrm>
          <a:prstGeom prst="roundRect">
            <a:avLst>
              <a:gd name="adj" fmla="val 3077"/>
            </a:avLst>
          </a:prstGeom>
          <a:solidFill>
            <a:srgbClr val="F1EEF7"/>
          </a:solidFill>
          <a:ln w="12700">
            <a:solidFill>
              <a:srgbClr val="F1EEF7"/>
            </a:solidFill>
            <a:prstDash val="solid"/>
          </a:ln>
        </p:spPr>
      </p:sp>
      <p:sp>
        <p:nvSpPr>
          <p:cNvPr id="5" name="Shape 3"/>
          <p:cNvSpPr/>
          <p:nvPr/>
        </p:nvSpPr>
        <p:spPr>
          <a:xfrm>
            <a:off x="4572000" y="1463040"/>
            <a:ext cx="182880" cy="182880"/>
          </a:xfrm>
          <a:prstGeom prst="ellipse">
            <a:avLst/>
          </a:prstGeom>
          <a:solidFill>
            <a:srgbClr val="E07A5F"/>
          </a:solidFill>
          <a:ln w="12700">
            <a:solidFill>
              <a:srgbClr val="E07A5F"/>
            </a:solidFill>
            <a:prstDash val="solid"/>
          </a:ln>
        </p:spPr>
      </p:sp>
      <p:sp>
        <p:nvSpPr>
          <p:cNvPr id="6" name="Text 4"/>
          <p:cNvSpPr txBox="1"/>
          <p:nvPr/>
        </p:nvSpPr>
        <p:spPr>
          <a:xfrm>
            <a:off x="4828032" y="141732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résilier un abonnement</a:t>
            </a:r>
            <a:endParaRPr lang="en-US" sz="1200" dirty="0"/>
          </a:p>
        </p:txBody>
      </p:sp>
      <p:sp>
        <p:nvSpPr>
          <p:cNvPr id="7" name="Shape 5"/>
          <p:cNvSpPr/>
          <p:nvPr/>
        </p:nvSpPr>
        <p:spPr>
          <a:xfrm>
            <a:off x="4937760" y="1920240"/>
            <a:ext cx="182880" cy="182880"/>
          </a:xfrm>
          <a:prstGeom prst="ellipse">
            <a:avLst/>
          </a:prstGeom>
          <a:solidFill>
            <a:srgbClr val="E07A5F"/>
          </a:solidFill>
          <a:ln w="12700">
            <a:solidFill>
              <a:srgbClr val="E07A5F"/>
            </a:solidFill>
            <a:prstDash val="solid"/>
          </a:ln>
        </p:spPr>
      </p:sp>
      <p:sp>
        <p:nvSpPr>
          <p:cNvPr id="8" name="Text 6"/>
          <p:cNvSpPr txBox="1"/>
          <p:nvPr/>
        </p:nvSpPr>
        <p:spPr>
          <a:xfrm>
            <a:off x="5193792" y="187452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mettre fin au contrat</a:t>
            </a:r>
            <a:endParaRPr lang="en-US" sz="1200" dirty="0"/>
          </a:p>
        </p:txBody>
      </p:sp>
      <p:sp>
        <p:nvSpPr>
          <p:cNvPr id="9" name="Shape 7"/>
          <p:cNvSpPr/>
          <p:nvPr/>
        </p:nvSpPr>
        <p:spPr>
          <a:xfrm>
            <a:off x="4389120" y="2331720"/>
            <a:ext cx="182880" cy="182880"/>
          </a:xfrm>
          <a:prstGeom prst="ellipse">
            <a:avLst/>
          </a:prstGeom>
          <a:solidFill>
            <a:srgbClr val="E07A5F"/>
          </a:solidFill>
          <a:ln w="12700">
            <a:solidFill>
              <a:srgbClr val="E07A5F"/>
            </a:solidFill>
            <a:prstDash val="solid"/>
          </a:ln>
        </p:spPr>
      </p:sp>
      <p:sp>
        <p:nvSpPr>
          <p:cNvPr id="10" name="Text 8"/>
          <p:cNvSpPr txBox="1"/>
          <p:nvPr/>
        </p:nvSpPr>
        <p:spPr>
          <a:xfrm>
            <a:off x="4645152" y="228600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annuler une souscription</a:t>
            </a:r>
            <a:endParaRPr lang="en-US" sz="1200" dirty="0"/>
          </a:p>
        </p:txBody>
      </p:sp>
      <p:sp>
        <p:nvSpPr>
          <p:cNvPr id="11" name="Shape 9"/>
          <p:cNvSpPr/>
          <p:nvPr/>
        </p:nvSpPr>
        <p:spPr>
          <a:xfrm>
            <a:off x="6858000" y="1417320"/>
            <a:ext cx="182880" cy="182880"/>
          </a:xfrm>
          <a:prstGeom prst="ellipse">
            <a:avLst/>
          </a:prstGeom>
          <a:solidFill>
            <a:srgbClr val="81B29A"/>
          </a:solidFill>
          <a:ln w="12700">
            <a:solidFill>
              <a:srgbClr val="81B29A"/>
            </a:solidFill>
            <a:prstDash val="solid"/>
          </a:ln>
        </p:spPr>
      </p:sp>
      <p:sp>
        <p:nvSpPr>
          <p:cNvPr id="12" name="Text 10"/>
          <p:cNvSpPr txBox="1"/>
          <p:nvPr/>
        </p:nvSpPr>
        <p:spPr>
          <a:xfrm>
            <a:off x="7114032" y="137160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le chiot joue</a:t>
            </a:r>
            <a:endParaRPr lang="en-US" sz="1200" dirty="0"/>
          </a:p>
        </p:txBody>
      </p:sp>
      <p:sp>
        <p:nvSpPr>
          <p:cNvPr id="13" name="Shape 11"/>
          <p:cNvSpPr/>
          <p:nvPr/>
        </p:nvSpPr>
        <p:spPr>
          <a:xfrm>
            <a:off x="7132320" y="1874520"/>
            <a:ext cx="182880" cy="182880"/>
          </a:xfrm>
          <a:prstGeom prst="ellipse">
            <a:avLst/>
          </a:prstGeom>
          <a:solidFill>
            <a:srgbClr val="81B29A"/>
          </a:solidFill>
          <a:ln w="12700">
            <a:solidFill>
              <a:srgbClr val="81B29A"/>
            </a:solidFill>
            <a:prstDash val="solid"/>
          </a:ln>
        </p:spPr>
      </p:sp>
      <p:sp>
        <p:nvSpPr>
          <p:cNvPr id="14" name="Text 12"/>
          <p:cNvSpPr txBox="1"/>
          <p:nvPr/>
        </p:nvSpPr>
        <p:spPr>
          <a:xfrm>
            <a:off x="7388352" y="182880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un labrador</a:t>
            </a:r>
            <a:endParaRPr lang="en-US" sz="1200" dirty="0"/>
          </a:p>
        </p:txBody>
      </p:sp>
      <p:sp>
        <p:nvSpPr>
          <p:cNvPr id="15" name="Shape 13"/>
          <p:cNvSpPr/>
          <p:nvPr/>
        </p:nvSpPr>
        <p:spPr>
          <a:xfrm>
            <a:off x="6309360" y="3474720"/>
            <a:ext cx="182880" cy="182880"/>
          </a:xfrm>
          <a:prstGeom prst="ellipse">
            <a:avLst/>
          </a:prstGeom>
          <a:solidFill>
            <a:srgbClr val="4A4E69"/>
          </a:solidFill>
          <a:ln w="12700">
            <a:solidFill>
              <a:srgbClr val="4A4E69"/>
            </a:solidFill>
            <a:prstDash val="solid"/>
          </a:ln>
        </p:spPr>
      </p:sp>
      <p:sp>
        <p:nvSpPr>
          <p:cNvPr id="16" name="Text 14"/>
          <p:cNvSpPr txBox="1"/>
          <p:nvPr/>
        </p:nvSpPr>
        <p:spPr>
          <a:xfrm>
            <a:off x="6565392" y="342900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il pleut</a:t>
            </a:r>
            <a:endParaRPr lang="en-US" sz="1200" dirty="0"/>
          </a:p>
        </p:txBody>
      </p:sp>
      <p:sp>
        <p:nvSpPr>
          <p:cNvPr id="17" name="Shape 15"/>
          <p:cNvSpPr/>
          <p:nvPr/>
        </p:nvSpPr>
        <p:spPr>
          <a:xfrm>
            <a:off x="6858000" y="3931920"/>
            <a:ext cx="182880" cy="182880"/>
          </a:xfrm>
          <a:prstGeom prst="ellipse">
            <a:avLst/>
          </a:prstGeom>
          <a:solidFill>
            <a:srgbClr val="4A4E69"/>
          </a:solidFill>
          <a:ln w="12700">
            <a:solidFill>
              <a:srgbClr val="4A4E69"/>
            </a:solidFill>
            <a:prstDash val="solid"/>
          </a:ln>
        </p:spPr>
      </p:sp>
      <p:sp>
        <p:nvSpPr>
          <p:cNvPr id="18" name="Text 16"/>
          <p:cNvSpPr txBox="1"/>
          <p:nvPr/>
        </p:nvSpPr>
        <p:spPr>
          <a:xfrm>
            <a:off x="7114032" y="3886200"/>
            <a:ext cx="1828800" cy="274320"/>
          </a:xfrm>
          <a:prstGeom prst="rect">
            <a:avLst/>
          </a:prstGeom>
          <a:noFill/>
          <a:ln/>
        </p:spPr>
        <p:txBody>
          <a:bodyPr wrap="square" lIns="0" tIns="0" rIns="0" bIns="0" rtlCol="0" anchor="t"/>
          <a:lstStyle/>
          <a:p>
            <a:pPr indent="0" marL="0">
              <a:buNone/>
            </a:pPr>
            <a:r>
              <a:rPr lang="en-US" sz="1200" dirty="0">
                <a:solidFill>
                  <a:srgbClr val="22223B"/>
                </a:solidFill>
                <a:latin typeface="Calibri" pitchFamily="34" charset="0"/>
                <a:ea typeface="Calibri" pitchFamily="34" charset="-122"/>
                <a:cs typeface="Calibri" pitchFamily="34" charset="-120"/>
              </a:rPr>
              <a:t>averses prévues</a:t>
            </a:r>
            <a:endParaRPr lang="en-US" sz="1200" dirty="0"/>
          </a:p>
        </p:txBody>
      </p:sp>
      <p:sp>
        <p:nvSpPr>
          <p:cNvPr id="19" name="Shape 17"/>
          <p:cNvSpPr/>
          <p:nvPr/>
        </p:nvSpPr>
        <p:spPr>
          <a:xfrm>
            <a:off x="4663440" y="2926080"/>
            <a:ext cx="256032" cy="256032"/>
          </a:xfrm>
          <a:prstGeom prst="ellipse">
            <a:avLst/>
          </a:prstGeom>
          <a:solidFill>
            <a:srgbClr val="22223B"/>
          </a:solidFill>
          <a:ln w="12700">
            <a:solidFill>
              <a:srgbClr val="22223B"/>
            </a:solidFill>
            <a:prstDash val="solid"/>
          </a:ln>
        </p:spPr>
      </p:sp>
      <p:sp>
        <p:nvSpPr>
          <p:cNvPr id="20" name="Text 18"/>
          <p:cNvSpPr txBox="1"/>
          <p:nvPr/>
        </p:nvSpPr>
        <p:spPr>
          <a:xfrm>
            <a:off x="4983480" y="2907792"/>
            <a:ext cx="1463040" cy="274320"/>
          </a:xfrm>
          <a:prstGeom prst="rect">
            <a:avLst/>
          </a:prstGeom>
          <a:noFill/>
          <a:ln/>
        </p:spPr>
        <p:txBody>
          <a:bodyPr wrap="square" lIns="0" tIns="0" rIns="0" bIns="0" rtlCol="0" anchor="t"/>
          <a:lstStyle/>
          <a:p>
            <a:pPr indent="0" marL="0">
              <a:buNone/>
            </a:pPr>
            <a:r>
              <a:rPr lang="en-US" sz="1200" b="1" dirty="0">
                <a:solidFill>
                  <a:srgbClr val="22223B"/>
                </a:solidFill>
                <a:latin typeface="Calibri" pitchFamily="34" charset="0"/>
                <a:ea typeface="Calibri" pitchFamily="34" charset="-122"/>
                <a:cs typeface="Calibri" pitchFamily="34" charset="-120"/>
              </a:rPr>
              <a:t>votre question</a:t>
            </a:r>
            <a:endParaRPr lang="en-US" sz="1200" dirty="0"/>
          </a:p>
        </p:txBody>
      </p:sp>
      <p:sp>
        <p:nvSpPr>
          <p:cNvPr id="21" name="Text 19"/>
          <p:cNvSpPr txBox="1"/>
          <p:nvPr/>
        </p:nvSpPr>
        <p:spPr>
          <a:xfrm>
            <a:off x="4983480" y="3154680"/>
            <a:ext cx="1645920" cy="274320"/>
          </a:xfrm>
          <a:prstGeom prst="rect">
            <a:avLst/>
          </a:prstGeom>
          <a:noFill/>
          <a:ln/>
        </p:spPr>
        <p:txBody>
          <a:bodyPr wrap="square" lIns="0" tIns="0" rIns="0" bIns="0" rtlCol="0" anchor="t"/>
          <a:lstStyle/>
          <a:p>
            <a:pPr indent="0" marL="0">
              <a:buNone/>
            </a:pPr>
            <a:r>
              <a:rPr lang="en-US" sz="1100" i="1" dirty="0">
                <a:solidFill>
                  <a:srgbClr val="6B6E80"/>
                </a:solidFill>
                <a:latin typeface="Calibri" pitchFamily="34" charset="0"/>
                <a:ea typeface="Calibri" pitchFamily="34" charset="-122"/>
                <a:cs typeface="Calibri" pitchFamily="34" charset="-120"/>
              </a:rPr>
              <a:t>« Comment résilier… ?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En vrai : pas 2 dimensions, mais des centaines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926080"/>
                <a:gridCol w="1060704"/>
                <a:gridCol w="1060704"/>
                <a:gridCol w="1060704"/>
                <a:gridCol w="1060704"/>
                <a:gridCol w="1060704"/>
              </a:tblGrid>
              <a:tr h="41148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texte</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d1</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d2</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d3</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d768</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22223B"/>
                    </a:solidFill>
                  </a:tcPr>
                </a:tc>
              </a:tr>
              <a:tr h="411480">
                <a:tc>
                  <a:txBody>
                    <a:bodyPr/>
                    <a:lstStyle/>
                    <a:p>
                      <a:pPr algn="l" indent="0" marL="0">
                        <a:buNone/>
                      </a:pPr>
                      <a:r>
                        <a:rPr lang="en-US" sz="1300" dirty="0">
                          <a:solidFill>
                            <a:srgbClr val="22223B"/>
                          </a:solidFill>
                          <a:latin typeface="Calibri" pitchFamily="34" charset="0"/>
                          <a:ea typeface="Calibri" pitchFamily="34" charset="-122"/>
                          <a:cs typeface="Calibri" pitchFamily="34" charset="-120"/>
                        </a:rPr>
                        <a:t>mettre fin au contrat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0,12</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-0,53</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0,08</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0,31</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22223B"/>
                          </a:solidFill>
                          <a:latin typeface="Calibri" pitchFamily="34" charset="0"/>
                          <a:ea typeface="Calibri" pitchFamily="34" charset="-122"/>
                          <a:cs typeface="Calibri" pitchFamily="34" charset="-120"/>
                        </a:rPr>
                        <a:t>résilier mon abonnement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0,11</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0,10</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0,29</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r>
              <a:tr h="411480">
                <a:tc>
                  <a:txBody>
                    <a:bodyPr/>
                    <a:lstStyle/>
                    <a:p>
                      <a:pPr algn="l" indent="0" marL="0">
                        <a:buNone/>
                      </a:pPr>
                      <a:r>
                        <a:rPr lang="en-US" sz="1300" dirty="0">
                          <a:solidFill>
                            <a:srgbClr val="22223B"/>
                          </a:solidFill>
                          <a:latin typeface="Calibri" pitchFamily="34" charset="0"/>
                          <a:ea typeface="Calibri" pitchFamily="34" charset="-122"/>
                          <a:cs typeface="Calibri" pitchFamily="34" charset="-120"/>
                        </a:rPr>
                        <a:t>le chiot joue</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-0,71</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0,22</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0,64</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3B"/>
                          </a:solidFill>
                          <a:latin typeface="Calibri" pitchFamily="34" charset="0"/>
                          <a:ea typeface="Calibri" pitchFamily="34" charset="-122"/>
                          <a:cs typeface="Calibri" pitchFamily="34" charset="-120"/>
                        </a:rPr>
                        <a:t>-0,05</a:t>
                      </a:r>
                      <a:endParaRPr lang="en-US" sz="1300" dirty="0">
                        <a:latin typeface="Calibri" charset="0"/>
                        <a:ea typeface="Calibri" charset="0"/>
                        <a:cs typeface="Calibri" charset="0"/>
                      </a:endParaRPr>
                    </a:p>
                  </a:txBody>
                  <a:tcPr marL="91440" marR="91440" marT="45720" marB="45720">
                    <a:lnL w="9525" cap="flat" cmpd="sng" algn="ctr">
                      <a:solidFill>
                        <a:srgbClr val="D5D1E0"/>
                      </a:solidFill>
                      <a:prstDash val="solid"/>
                      <a:round/>
                      <a:headEnd type="none" w="med" len="med"/>
                      <a:tailEnd type="none" w="med" len="med"/>
                    </a:lnL>
                    <a:lnR w="9525" cap="flat" cmpd="sng" algn="ctr">
                      <a:solidFill>
                        <a:srgbClr val="D5D1E0"/>
                      </a:solidFill>
                      <a:prstDash val="solid"/>
                      <a:round/>
                      <a:headEnd type="none" w="med" len="med"/>
                      <a:tailEnd type="none" w="med" len="med"/>
                    </a:lnR>
                    <a:lnT w="9525" cap="flat" cmpd="sng" algn="ctr">
                      <a:solidFill>
                        <a:srgbClr val="D5D1E0"/>
                      </a:solidFill>
                      <a:prstDash val="solid"/>
                      <a:round/>
                      <a:headEnd type="none" w="med" len="med"/>
                      <a:tailEnd type="none" w="med" len="med"/>
                    </a:lnT>
                    <a:lnB w="9525" cap="flat" cmpd="sng" algn="ctr">
                      <a:solidFill>
                        <a:srgbClr val="D5D1E0"/>
                      </a:solidFill>
                      <a:prstDash val="solid"/>
                      <a:round/>
                      <a:headEnd type="none" w="med" len="med"/>
                      <a:tailEnd type="none" w="med" len="med"/>
                    </a:lnB>
                    <a:solidFill>
                      <a:srgbClr val="FFFFFF"/>
                    </a:solidFill>
                  </a:tcPr>
                </a:tc>
              </a:tr>
            </a:tbl>
          </a:graphicData>
        </a:graphic>
      </p:graphicFrame>
      <p:sp>
        <p:nvSpPr>
          <p:cNvPr id="4" name="Shape 1"/>
          <p:cNvSpPr/>
          <p:nvPr/>
        </p:nvSpPr>
        <p:spPr>
          <a:xfrm>
            <a:off x="457200" y="3154680"/>
            <a:ext cx="8229600" cy="1234440"/>
          </a:xfrm>
          <a:prstGeom prst="roundRect">
            <a:avLst>
              <a:gd name="adj" fmla="val 8889"/>
            </a:avLst>
          </a:prstGeom>
          <a:solidFill>
            <a:srgbClr val="F1EEF7"/>
          </a:solidFill>
          <a:ln w="12700">
            <a:solidFill>
              <a:srgbClr val="F1EEF7"/>
            </a:solidFill>
            <a:prstDash val="solid"/>
          </a:ln>
        </p:spPr>
      </p:sp>
      <p:sp>
        <p:nvSpPr>
          <p:cNvPr id="5" name="Text 2"/>
          <p:cNvSpPr txBox="1"/>
          <p:nvPr/>
        </p:nvSpPr>
        <p:spPr>
          <a:xfrm>
            <a:off x="731520" y="3310128"/>
            <a:ext cx="7680960" cy="960120"/>
          </a:xfrm>
          <a:prstGeom prst="rect">
            <a:avLst/>
          </a:prstGeom>
          <a:noFill/>
          <a:ln/>
        </p:spPr>
        <p:txBody>
          <a:bodyPr wrap="square" lIns="0" tIns="0" rIns="0" bIns="0" rtlCol="0" anchor="t"/>
          <a:lstStyle/>
          <a:p>
            <a:pPr indent="0" marL="0">
              <a:buNone/>
            </a:pPr>
            <a:r>
              <a:rPr lang="en-US" sz="1500" b="1" dirty="0">
                <a:solidFill>
                  <a:srgbClr val="E07A5F"/>
                </a:solidFill>
                <a:latin typeface="Calibri" pitchFamily="34" charset="0"/>
                <a:ea typeface="Calibri" pitchFamily="34" charset="-122"/>
                <a:cs typeface="Calibri" pitchFamily="34" charset="-120"/>
              </a:rPr>
              <a:t>Pour un data analyst : </a:t>
            </a:r>
            <a:pPr indent="0" marL="0">
              <a:buNone/>
            </a:pPr>
            <a:r>
              <a:rPr lang="en-US" sz="1500" dirty="0">
                <a:solidFill>
                  <a:srgbClr val="22223B"/>
                </a:solidFill>
                <a:latin typeface="Calibri" pitchFamily="34" charset="0"/>
                <a:ea typeface="Calibri" pitchFamily="34" charset="-122"/>
                <a:cs typeface="Calibri" pitchFamily="34" charset="-120"/>
              </a:rPr>
              <a:t>une table où chaque ligne de texte reçoit 768 colonnes numériques. Aucune colonne n'a de sens isolément ; c'est l'ensemble qui encode le sens. Les deux premières lignes ont des valeurs presque identiques : elles disent la même chose.</a:t>
            </a:r>
            <a:endParaRPr lang="en-US" sz="1500" dirty="0"/>
          </a:p>
        </p:txBody>
      </p:sp>
      <p:sp>
        <p:nvSpPr>
          <p:cNvPr id="6" name="Text 3"/>
          <p:cNvSpPr txBox="1"/>
          <p:nvPr/>
        </p:nvSpPr>
        <p:spPr>
          <a:xfrm>
            <a:off x="457200" y="4572000"/>
            <a:ext cx="8229600" cy="274320"/>
          </a:xfrm>
          <a:prstGeom prst="rect">
            <a:avLst/>
          </a:prstGeom>
          <a:noFill/>
          <a:ln/>
        </p:spPr>
        <p:txBody>
          <a:bodyPr wrap="square" lIns="0" tIns="0" rIns="0" bIns="0" rtlCol="0" anchor="t"/>
          <a:lstStyle/>
          <a:p>
            <a:pPr indent="0" marL="0">
              <a:buNone/>
            </a:pPr>
            <a:r>
              <a:rPr lang="en-US" sz="1100" dirty="0">
                <a:solidFill>
                  <a:srgbClr val="6B6E80"/>
                </a:solidFill>
                <a:latin typeface="Calibri" pitchFamily="34" charset="0"/>
                <a:ea typeface="Calibri" pitchFamily="34" charset="-122"/>
                <a:cs typeface="Calibri" pitchFamily="34" charset="-120"/>
              </a:rPr>
              <a:t>Valeurs illustratives. La taille dépend du modèle : 384, 768, 1 024, 3 072 dimensions…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Mesurer la proximité : la similarité cosinus</a:t>
            </a:r>
            <a:endParaRPr lang="en-US" sz="3000" dirty="0"/>
          </a:p>
        </p:txBody>
      </p:sp>
      <p:sp>
        <p:nvSpPr>
          <p:cNvPr id="3" name="Shape 1"/>
          <p:cNvSpPr/>
          <p:nvPr/>
        </p:nvSpPr>
        <p:spPr>
          <a:xfrm>
            <a:off x="457200" y="1143000"/>
            <a:ext cx="4023360" cy="3520440"/>
          </a:xfrm>
          <a:prstGeom prst="roundRect">
            <a:avLst>
              <a:gd name="adj" fmla="val 3117"/>
            </a:avLst>
          </a:prstGeom>
          <a:solidFill>
            <a:srgbClr val="F1EEF7"/>
          </a:solidFill>
          <a:ln w="12700">
            <a:solidFill>
              <a:srgbClr val="F1EEF7"/>
            </a:solidFill>
            <a:prstDash val="solid"/>
          </a:ln>
        </p:spPr>
      </p:sp>
      <p:sp>
        <p:nvSpPr>
          <p:cNvPr id="4" name="Shape 2"/>
          <p:cNvSpPr/>
          <p:nvPr/>
        </p:nvSpPr>
        <p:spPr>
          <a:xfrm flipV="1">
            <a:off x="914400" y="1828800"/>
            <a:ext cx="2743200" cy="2377440"/>
          </a:xfrm>
          <a:prstGeom prst="line">
            <a:avLst/>
          </a:prstGeom>
          <a:noFill/>
          <a:ln w="38100">
            <a:solidFill>
              <a:srgbClr val="E07A5F"/>
            </a:solidFill>
            <a:prstDash val="solid"/>
            <a:tailEnd type="triangle"/>
          </a:ln>
        </p:spPr>
      </p:sp>
      <p:sp>
        <p:nvSpPr>
          <p:cNvPr id="5" name="Shape 3"/>
          <p:cNvSpPr/>
          <p:nvPr/>
        </p:nvSpPr>
        <p:spPr>
          <a:xfrm flipV="1">
            <a:off x="914400" y="2377440"/>
            <a:ext cx="3017520" cy="1828800"/>
          </a:xfrm>
          <a:prstGeom prst="line">
            <a:avLst/>
          </a:prstGeom>
          <a:noFill/>
          <a:ln w="38100">
            <a:solidFill>
              <a:srgbClr val="E07A5F"/>
            </a:solidFill>
            <a:prstDash val="solid"/>
            <a:tailEnd type="triangle"/>
          </a:ln>
        </p:spPr>
      </p:sp>
      <p:sp>
        <p:nvSpPr>
          <p:cNvPr id="6" name="Shape 4"/>
          <p:cNvSpPr/>
          <p:nvPr/>
        </p:nvSpPr>
        <p:spPr>
          <a:xfrm flipV="1">
            <a:off x="914400" y="1371600"/>
            <a:ext cx="320040" cy="2834640"/>
          </a:xfrm>
          <a:prstGeom prst="line">
            <a:avLst/>
          </a:prstGeom>
          <a:noFill/>
          <a:ln w="38100">
            <a:solidFill>
              <a:srgbClr val="81B29A"/>
            </a:solidFill>
            <a:prstDash val="solid"/>
            <a:tailEnd type="triangle"/>
          </a:ln>
        </p:spPr>
      </p:sp>
      <p:sp>
        <p:nvSpPr>
          <p:cNvPr id="7" name="Shape 5"/>
          <p:cNvSpPr/>
          <p:nvPr/>
        </p:nvSpPr>
        <p:spPr>
          <a:xfrm>
            <a:off x="841248" y="4133088"/>
            <a:ext cx="146304" cy="146304"/>
          </a:xfrm>
          <a:prstGeom prst="ellipse">
            <a:avLst/>
          </a:prstGeom>
          <a:solidFill>
            <a:srgbClr val="22223B"/>
          </a:solidFill>
          <a:ln w="12700">
            <a:solidFill>
              <a:srgbClr val="22223B"/>
            </a:solidFill>
            <a:prstDash val="solid"/>
          </a:ln>
        </p:spPr>
      </p:sp>
      <p:sp>
        <p:nvSpPr>
          <p:cNvPr id="8" name="Text 6"/>
          <p:cNvSpPr txBox="1"/>
          <p:nvPr/>
        </p:nvSpPr>
        <p:spPr>
          <a:xfrm>
            <a:off x="2331720" y="1508760"/>
            <a:ext cx="2011680" cy="274320"/>
          </a:xfrm>
          <a:prstGeom prst="rect">
            <a:avLst/>
          </a:prstGeom>
          <a:noFill/>
          <a:ln/>
        </p:spPr>
        <p:txBody>
          <a:bodyPr wrap="square" lIns="0" tIns="0" rIns="0" bIns="0" rtlCol="0" anchor="t"/>
          <a:lstStyle/>
          <a:p>
            <a:pPr indent="0" marL="0">
              <a:buNone/>
            </a:pPr>
            <a:r>
              <a:rPr lang="en-US" sz="1200" b="1" dirty="0">
                <a:solidFill>
                  <a:srgbClr val="E07A5F"/>
                </a:solidFill>
                <a:latin typeface="Calibri" pitchFamily="34" charset="0"/>
                <a:ea typeface="Calibri" pitchFamily="34" charset="-122"/>
                <a:cs typeface="Calibri" pitchFamily="34" charset="-120"/>
              </a:rPr>
              <a:t>mettre fin au contrat</a:t>
            </a:r>
            <a:endParaRPr lang="en-US" sz="1200" dirty="0"/>
          </a:p>
        </p:txBody>
      </p:sp>
      <p:sp>
        <p:nvSpPr>
          <p:cNvPr id="9" name="Text 7"/>
          <p:cNvSpPr txBox="1"/>
          <p:nvPr/>
        </p:nvSpPr>
        <p:spPr>
          <a:xfrm>
            <a:off x="2834640" y="3154680"/>
            <a:ext cx="1600200" cy="274320"/>
          </a:xfrm>
          <a:prstGeom prst="rect">
            <a:avLst/>
          </a:prstGeom>
          <a:noFill/>
          <a:ln/>
        </p:spPr>
        <p:txBody>
          <a:bodyPr wrap="square" lIns="0" tIns="0" rIns="0" bIns="0" rtlCol="0" anchor="t"/>
          <a:lstStyle/>
          <a:p>
            <a:pPr indent="0" marL="0">
              <a:buNone/>
            </a:pPr>
            <a:r>
              <a:rPr lang="en-US" sz="1200" b="1" dirty="0">
                <a:solidFill>
                  <a:srgbClr val="E07A5F"/>
                </a:solidFill>
                <a:latin typeface="Calibri" pitchFamily="34" charset="0"/>
                <a:ea typeface="Calibri" pitchFamily="34" charset="-122"/>
                <a:cs typeface="Calibri" pitchFamily="34" charset="-120"/>
              </a:rPr>
              <a:t>résilier mon abonnement</a:t>
            </a:r>
            <a:endParaRPr lang="en-US" sz="1200" dirty="0"/>
          </a:p>
        </p:txBody>
      </p:sp>
      <p:sp>
        <p:nvSpPr>
          <p:cNvPr id="10" name="Text 8"/>
          <p:cNvSpPr txBox="1"/>
          <p:nvPr/>
        </p:nvSpPr>
        <p:spPr>
          <a:xfrm>
            <a:off x="1325880" y="1280160"/>
            <a:ext cx="1371600" cy="274320"/>
          </a:xfrm>
          <a:prstGeom prst="rect">
            <a:avLst/>
          </a:prstGeom>
          <a:noFill/>
          <a:ln/>
        </p:spPr>
        <p:txBody>
          <a:bodyPr wrap="square" lIns="0" tIns="0" rIns="0" bIns="0" rtlCol="0" anchor="t"/>
          <a:lstStyle/>
          <a:p>
            <a:pPr indent="0" marL="0">
              <a:buNone/>
            </a:pPr>
            <a:r>
              <a:rPr lang="en-US" sz="1200" b="1" dirty="0">
                <a:solidFill>
                  <a:srgbClr val="81B29A"/>
                </a:solidFill>
                <a:latin typeface="Calibri" pitchFamily="34" charset="0"/>
                <a:ea typeface="Calibri" pitchFamily="34" charset="-122"/>
                <a:cs typeface="Calibri" pitchFamily="34" charset="-120"/>
              </a:rPr>
              <a:t>le chiot joue</a:t>
            </a:r>
            <a:endParaRPr lang="en-US" sz="1200" dirty="0"/>
          </a:p>
        </p:txBody>
      </p:sp>
      <p:sp>
        <p:nvSpPr>
          <p:cNvPr id="11" name="Text 9"/>
          <p:cNvSpPr txBox="1"/>
          <p:nvPr/>
        </p:nvSpPr>
        <p:spPr>
          <a:xfrm>
            <a:off x="4846320" y="1234440"/>
            <a:ext cx="3840480" cy="731520"/>
          </a:xfrm>
          <a:prstGeom prst="rect">
            <a:avLst/>
          </a:prstGeom>
          <a:noFill/>
          <a:ln/>
        </p:spPr>
        <p:txBody>
          <a:bodyPr wrap="square" lIns="0" tIns="0" rIns="0" bIns="0" rtlCol="0" anchor="t"/>
          <a:lstStyle/>
          <a:p>
            <a:pPr indent="0" marL="0">
              <a:buNone/>
            </a:pPr>
            <a:r>
              <a:rPr lang="en-US" sz="1600" dirty="0">
                <a:solidFill>
                  <a:srgbClr val="22223B"/>
                </a:solidFill>
                <a:latin typeface="Calibri" pitchFamily="34" charset="0"/>
                <a:ea typeface="Calibri" pitchFamily="34" charset="-122"/>
                <a:cs typeface="Calibri" pitchFamily="34" charset="-120"/>
              </a:rPr>
              <a:t>Chaque texte = une flèche. On mesure l'angle entre deux flèches.</a:t>
            </a:r>
            <a:endParaRPr lang="en-US" sz="1600" dirty="0"/>
          </a:p>
        </p:txBody>
      </p:sp>
      <p:sp>
        <p:nvSpPr>
          <p:cNvPr id="12" name="Text 10"/>
          <p:cNvSpPr txBox="1"/>
          <p:nvPr/>
        </p:nvSpPr>
        <p:spPr>
          <a:xfrm>
            <a:off x="4846320" y="2011680"/>
            <a:ext cx="1463040" cy="640080"/>
          </a:xfrm>
          <a:prstGeom prst="rect">
            <a:avLst/>
          </a:prstGeom>
          <a:noFill/>
          <a:ln/>
        </p:spPr>
        <p:txBody>
          <a:bodyPr wrap="square" lIns="0" tIns="0" rIns="0" bIns="0" rtlCol="0" anchor="t"/>
          <a:lstStyle/>
          <a:p>
            <a:pPr indent="0" marL="0">
              <a:buNone/>
            </a:pPr>
            <a:r>
              <a:rPr lang="en-US" sz="3600" b="1" dirty="0">
                <a:solidFill>
                  <a:srgbClr val="E07A5F"/>
                </a:solidFill>
                <a:latin typeface="Cambria" pitchFamily="34" charset="0"/>
                <a:ea typeface="Cambria" pitchFamily="34" charset="-122"/>
                <a:cs typeface="Cambria" pitchFamily="34" charset="-120"/>
              </a:rPr>
              <a:t>0,91</a:t>
            </a:r>
            <a:endParaRPr lang="en-US" sz="3600" dirty="0"/>
          </a:p>
        </p:txBody>
      </p:sp>
      <p:sp>
        <p:nvSpPr>
          <p:cNvPr id="13" name="Text 11"/>
          <p:cNvSpPr txBox="1"/>
          <p:nvPr/>
        </p:nvSpPr>
        <p:spPr>
          <a:xfrm>
            <a:off x="6309360" y="2057400"/>
            <a:ext cx="2377440" cy="640080"/>
          </a:xfrm>
          <a:prstGeom prst="rect">
            <a:avLst/>
          </a:prstGeom>
          <a:noFill/>
          <a:ln/>
        </p:spPr>
        <p:txBody>
          <a:bodyPr wrap="square" lIns="0" tIns="0" rIns="0" bIns="0" rtlCol="0" anchor="t"/>
          <a:lstStyle/>
          <a:p>
            <a:pPr indent="0" marL="0">
              <a:buNone/>
            </a:pPr>
            <a:r>
              <a:rPr lang="en-US" sz="1300" dirty="0">
                <a:solidFill>
                  <a:srgbClr val="22223B"/>
                </a:solidFill>
                <a:latin typeface="Calibri" pitchFamily="34" charset="0"/>
                <a:ea typeface="Calibri" pitchFamily="34" charset="-122"/>
                <a:cs typeface="Calibri" pitchFamily="34" charset="-120"/>
              </a:rPr>
              <a:t>contrat ↔ abonnement</a:t>
            </a:r>
            <a:endParaRPr lang="en-US" sz="1300" dirty="0"/>
          </a:p>
          <a:p>
            <a:pPr indent="0" marL="0">
              <a:buNone/>
            </a:pPr>
            <a:r>
              <a:rPr lang="en-US" sz="1300" dirty="0">
                <a:solidFill>
                  <a:srgbClr val="22223B"/>
                </a:solidFill>
                <a:latin typeface="Calibri" pitchFamily="34" charset="0"/>
                <a:ea typeface="Calibri" pitchFamily="34" charset="-122"/>
                <a:cs typeface="Calibri" pitchFamily="34" charset="-120"/>
              </a:rPr>
              <a:t>angle faible : même sens</a:t>
            </a:r>
            <a:endParaRPr lang="en-US" sz="1300" dirty="0"/>
          </a:p>
        </p:txBody>
      </p:sp>
      <p:sp>
        <p:nvSpPr>
          <p:cNvPr id="14" name="Text 12"/>
          <p:cNvSpPr txBox="1"/>
          <p:nvPr/>
        </p:nvSpPr>
        <p:spPr>
          <a:xfrm>
            <a:off x="4846320" y="2880360"/>
            <a:ext cx="1463040" cy="640080"/>
          </a:xfrm>
          <a:prstGeom prst="rect">
            <a:avLst/>
          </a:prstGeom>
          <a:noFill/>
          <a:ln/>
        </p:spPr>
        <p:txBody>
          <a:bodyPr wrap="square" lIns="0" tIns="0" rIns="0" bIns="0" rtlCol="0" anchor="t"/>
          <a:lstStyle/>
          <a:p>
            <a:pPr indent="0" marL="0">
              <a:buNone/>
            </a:pPr>
            <a:r>
              <a:rPr lang="en-US" sz="3600" b="1" dirty="0">
                <a:solidFill>
                  <a:srgbClr val="81B29A"/>
                </a:solidFill>
                <a:latin typeface="Cambria" pitchFamily="34" charset="0"/>
                <a:ea typeface="Cambria" pitchFamily="34" charset="-122"/>
                <a:cs typeface="Cambria" pitchFamily="34" charset="-120"/>
              </a:rPr>
              <a:t>0,08</a:t>
            </a:r>
            <a:endParaRPr lang="en-US" sz="3600" dirty="0"/>
          </a:p>
        </p:txBody>
      </p:sp>
      <p:sp>
        <p:nvSpPr>
          <p:cNvPr id="15" name="Text 13"/>
          <p:cNvSpPr txBox="1"/>
          <p:nvPr/>
        </p:nvSpPr>
        <p:spPr>
          <a:xfrm>
            <a:off x="6309360" y="2926080"/>
            <a:ext cx="2377440" cy="640080"/>
          </a:xfrm>
          <a:prstGeom prst="rect">
            <a:avLst/>
          </a:prstGeom>
          <a:noFill/>
          <a:ln/>
        </p:spPr>
        <p:txBody>
          <a:bodyPr wrap="square" lIns="0" tIns="0" rIns="0" bIns="0" rtlCol="0" anchor="t"/>
          <a:lstStyle/>
          <a:p>
            <a:pPr indent="0" marL="0">
              <a:buNone/>
            </a:pPr>
            <a:r>
              <a:rPr lang="en-US" sz="1300" dirty="0">
                <a:solidFill>
                  <a:srgbClr val="22223B"/>
                </a:solidFill>
                <a:latin typeface="Calibri" pitchFamily="34" charset="0"/>
                <a:ea typeface="Calibri" pitchFamily="34" charset="-122"/>
                <a:cs typeface="Calibri" pitchFamily="34" charset="-120"/>
              </a:rPr>
              <a:t>contrat ↔ chiot</a:t>
            </a:r>
            <a:endParaRPr lang="en-US" sz="1300" dirty="0"/>
          </a:p>
          <a:p>
            <a:pPr indent="0" marL="0">
              <a:buNone/>
            </a:pPr>
            <a:r>
              <a:rPr lang="en-US" sz="1300" dirty="0">
                <a:solidFill>
                  <a:srgbClr val="22223B"/>
                </a:solidFill>
                <a:latin typeface="Calibri" pitchFamily="34" charset="0"/>
                <a:ea typeface="Calibri" pitchFamily="34" charset="-122"/>
                <a:cs typeface="Calibri" pitchFamily="34" charset="-120"/>
              </a:rPr>
              <a:t>angle large : sans rapport</a:t>
            </a:r>
            <a:endParaRPr lang="en-US" sz="1300" dirty="0"/>
          </a:p>
        </p:txBody>
      </p:sp>
      <p:sp>
        <p:nvSpPr>
          <p:cNvPr id="16" name="Text 14"/>
          <p:cNvSpPr txBox="1"/>
          <p:nvPr/>
        </p:nvSpPr>
        <p:spPr>
          <a:xfrm>
            <a:off x="4846320" y="3977640"/>
            <a:ext cx="3840480" cy="365760"/>
          </a:xfrm>
          <a:prstGeom prst="rect">
            <a:avLst/>
          </a:prstGeom>
          <a:noFill/>
          <a:ln/>
        </p:spPr>
        <p:txBody>
          <a:bodyPr wrap="square" lIns="0" tIns="0" rIns="0" bIns="0" rtlCol="0" anchor="t"/>
          <a:lstStyle/>
          <a:p>
            <a:pPr indent="0" marL="0">
              <a:buNone/>
            </a:pPr>
            <a:r>
              <a:rPr lang="en-US" sz="1300" i="1" dirty="0">
                <a:solidFill>
                  <a:srgbClr val="6B6E80"/>
                </a:solidFill>
                <a:latin typeface="Calibri" pitchFamily="34" charset="0"/>
                <a:ea typeface="Calibri" pitchFamily="34" charset="-122"/>
                <a:cs typeface="Calibri" pitchFamily="34" charset="-120"/>
              </a:rPr>
              <a:t>Échelle : 1 = même direction · 0 = aucun rapport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Le pipeline complet, en deux temps</a:t>
            </a:r>
            <a:endParaRPr lang="en-US" sz="3000" dirty="0"/>
          </a:p>
        </p:txBody>
      </p:sp>
      <p:sp>
        <p:nvSpPr>
          <p:cNvPr id="3" name="Text 1"/>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600" b="1" dirty="0">
                <a:solidFill>
                  <a:srgbClr val="E07A5F"/>
                </a:solidFill>
                <a:latin typeface="Calibri" pitchFamily="34" charset="0"/>
                <a:ea typeface="Calibri" pitchFamily="34" charset="-122"/>
                <a:cs typeface="Calibri" pitchFamily="34" charset="-120"/>
              </a:rPr>
              <a:t>Ingestion</a:t>
            </a:r>
            <a:pPr indent="0" marL="0">
              <a:buNone/>
            </a:pPr>
            <a:r>
              <a:rPr lang="en-US" sz="1300" dirty="0">
                <a:solidFill>
                  <a:srgbClr val="6B6E80"/>
                </a:solidFill>
                <a:latin typeface="Calibri" pitchFamily="34" charset="0"/>
                <a:ea typeface="Calibri" pitchFamily="34" charset="-122"/>
                <a:cs typeface="Calibri" pitchFamily="34" charset="-120"/>
              </a:rPr>
              <a:t>  une fois, en amont (c'est notre ETL)</a:t>
            </a:r>
            <a:endParaRPr lang="en-US" sz="1600" dirty="0"/>
          </a:p>
        </p:txBody>
      </p:sp>
      <p:sp>
        <p:nvSpPr>
          <p:cNvPr id="4" name="Shape 2"/>
          <p:cNvSpPr/>
          <p:nvPr/>
        </p:nvSpPr>
        <p:spPr>
          <a:xfrm>
            <a:off x="457200" y="1508760"/>
            <a:ext cx="1426464" cy="1005840"/>
          </a:xfrm>
          <a:prstGeom prst="roundRect">
            <a:avLst>
              <a:gd name="adj" fmla="val 10909"/>
            </a:avLst>
          </a:prstGeom>
          <a:solidFill>
            <a:srgbClr val="F1EEF7"/>
          </a:solidFill>
          <a:ln w="12700">
            <a:solidFill>
              <a:srgbClr val="F1EEF7"/>
            </a:solidFill>
            <a:prstDash val="solid"/>
          </a:ln>
        </p:spPr>
      </p:sp>
      <p:sp>
        <p:nvSpPr>
          <p:cNvPr id="5" name="Text 3"/>
          <p:cNvSpPr txBox="1"/>
          <p:nvPr/>
        </p:nvSpPr>
        <p:spPr>
          <a:xfrm>
            <a:off x="530352" y="150876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Documents</a:t>
            </a:r>
            <a:endParaRPr lang="en-US" sz="1300" dirty="0"/>
          </a:p>
        </p:txBody>
      </p:sp>
      <p:sp>
        <p:nvSpPr>
          <p:cNvPr id="6" name="Text 4"/>
          <p:cNvSpPr txBox="1"/>
          <p:nvPr/>
        </p:nvSpPr>
        <p:spPr>
          <a:xfrm>
            <a:off x="1883664" y="150876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157984" y="1508760"/>
            <a:ext cx="1426464" cy="1005840"/>
          </a:xfrm>
          <a:prstGeom prst="roundRect">
            <a:avLst>
              <a:gd name="adj" fmla="val 10909"/>
            </a:avLst>
          </a:prstGeom>
          <a:solidFill>
            <a:srgbClr val="F1EEF7"/>
          </a:solidFill>
          <a:ln w="12700">
            <a:solidFill>
              <a:srgbClr val="F1EEF7"/>
            </a:solidFill>
            <a:prstDash val="solid"/>
          </a:ln>
        </p:spPr>
      </p:sp>
      <p:sp>
        <p:nvSpPr>
          <p:cNvPr id="8" name="Text 6"/>
          <p:cNvSpPr txBox="1"/>
          <p:nvPr/>
        </p:nvSpPr>
        <p:spPr>
          <a:xfrm>
            <a:off x="2231136" y="150876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Extraction du texte (OCR)</a:t>
            </a:r>
            <a:endParaRPr lang="en-US" sz="1300" dirty="0"/>
          </a:p>
        </p:txBody>
      </p:sp>
      <p:sp>
        <p:nvSpPr>
          <p:cNvPr id="9" name="Text 7"/>
          <p:cNvSpPr txBox="1"/>
          <p:nvPr/>
        </p:nvSpPr>
        <p:spPr>
          <a:xfrm>
            <a:off x="3584448" y="150876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858768" y="1508760"/>
            <a:ext cx="1426464" cy="1005840"/>
          </a:xfrm>
          <a:prstGeom prst="roundRect">
            <a:avLst>
              <a:gd name="adj" fmla="val 10909"/>
            </a:avLst>
          </a:prstGeom>
          <a:solidFill>
            <a:srgbClr val="F1EEF7"/>
          </a:solidFill>
          <a:ln w="12700">
            <a:solidFill>
              <a:srgbClr val="F1EEF7"/>
            </a:solidFill>
            <a:prstDash val="solid"/>
          </a:ln>
        </p:spPr>
      </p:sp>
      <p:sp>
        <p:nvSpPr>
          <p:cNvPr id="11" name="Text 9"/>
          <p:cNvSpPr txBox="1"/>
          <p:nvPr/>
        </p:nvSpPr>
        <p:spPr>
          <a:xfrm>
            <a:off x="3931920" y="150876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Découpage en passages</a:t>
            </a:r>
            <a:endParaRPr lang="en-US" sz="1300" dirty="0"/>
          </a:p>
        </p:txBody>
      </p:sp>
      <p:sp>
        <p:nvSpPr>
          <p:cNvPr id="12" name="Text 10"/>
          <p:cNvSpPr txBox="1"/>
          <p:nvPr/>
        </p:nvSpPr>
        <p:spPr>
          <a:xfrm>
            <a:off x="5285232" y="150876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5559552" y="1508760"/>
            <a:ext cx="1426464" cy="1005840"/>
          </a:xfrm>
          <a:prstGeom prst="roundRect">
            <a:avLst>
              <a:gd name="adj" fmla="val 10909"/>
            </a:avLst>
          </a:prstGeom>
          <a:solidFill>
            <a:srgbClr val="F1EEF7"/>
          </a:solidFill>
          <a:ln w="12700">
            <a:solidFill>
              <a:srgbClr val="F1EEF7"/>
            </a:solidFill>
            <a:prstDash val="solid"/>
          </a:ln>
        </p:spPr>
      </p:sp>
      <p:sp>
        <p:nvSpPr>
          <p:cNvPr id="14" name="Text 12"/>
          <p:cNvSpPr txBox="1"/>
          <p:nvPr/>
        </p:nvSpPr>
        <p:spPr>
          <a:xfrm>
            <a:off x="5632704" y="150876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Embedding de chaque passage</a:t>
            </a:r>
            <a:endParaRPr lang="en-US" sz="1300" dirty="0"/>
          </a:p>
        </p:txBody>
      </p:sp>
      <p:sp>
        <p:nvSpPr>
          <p:cNvPr id="15" name="Text 13"/>
          <p:cNvSpPr txBox="1"/>
          <p:nvPr/>
        </p:nvSpPr>
        <p:spPr>
          <a:xfrm>
            <a:off x="6986016" y="150876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260336" y="1508760"/>
            <a:ext cx="1426464" cy="1005840"/>
          </a:xfrm>
          <a:prstGeom prst="roundRect">
            <a:avLst>
              <a:gd name="adj" fmla="val 10909"/>
            </a:avLst>
          </a:prstGeom>
          <a:solidFill>
            <a:srgbClr val="E07A5F"/>
          </a:solidFill>
          <a:ln w="12700">
            <a:solidFill>
              <a:srgbClr val="E07A5F"/>
            </a:solidFill>
            <a:prstDash val="solid"/>
          </a:ln>
        </p:spPr>
      </p:sp>
      <p:sp>
        <p:nvSpPr>
          <p:cNvPr id="17" name="Text 15"/>
          <p:cNvSpPr txBox="1"/>
          <p:nvPr/>
        </p:nvSpPr>
        <p:spPr>
          <a:xfrm>
            <a:off x="7333488" y="1508760"/>
            <a:ext cx="12801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Base vectorielle</a:t>
            </a:r>
            <a:endParaRPr lang="en-US" sz="1300" dirty="0"/>
          </a:p>
        </p:txBody>
      </p:sp>
      <p:sp>
        <p:nvSpPr>
          <p:cNvPr id="18" name="Text 16"/>
          <p:cNvSpPr txBox="1"/>
          <p:nvPr/>
        </p:nvSpPr>
        <p:spPr>
          <a:xfrm>
            <a:off x="457200" y="2834640"/>
            <a:ext cx="8229600" cy="320040"/>
          </a:xfrm>
          <a:prstGeom prst="rect">
            <a:avLst/>
          </a:prstGeom>
          <a:noFill/>
          <a:ln/>
        </p:spPr>
        <p:txBody>
          <a:bodyPr wrap="square" lIns="0" tIns="0" rIns="0" bIns="0" rtlCol="0" anchor="t"/>
          <a:lstStyle/>
          <a:p>
            <a:pPr indent="0" marL="0">
              <a:buNone/>
            </a:pPr>
            <a:r>
              <a:rPr lang="en-US" sz="1600" b="1" dirty="0">
                <a:solidFill>
                  <a:srgbClr val="4A4E69"/>
                </a:solidFill>
                <a:latin typeface="Calibri" pitchFamily="34" charset="0"/>
                <a:ea typeface="Calibri" pitchFamily="34" charset="-122"/>
                <a:cs typeface="Calibri" pitchFamily="34" charset="-120"/>
              </a:rPr>
              <a:t>Question</a:t>
            </a:r>
            <a:pPr indent="0" marL="0">
              <a:buNone/>
            </a:pPr>
            <a:r>
              <a:rPr lang="en-US" sz="1300" dirty="0">
                <a:solidFill>
                  <a:srgbClr val="6B6E80"/>
                </a:solidFill>
                <a:latin typeface="Calibri" pitchFamily="34" charset="0"/>
                <a:ea typeface="Calibri" pitchFamily="34" charset="-122"/>
                <a:cs typeface="Calibri" pitchFamily="34" charset="-120"/>
              </a:rPr>
              <a:t>  à chaque demande</a:t>
            </a:r>
            <a:endParaRPr lang="en-US" sz="1600" dirty="0"/>
          </a:p>
        </p:txBody>
      </p:sp>
      <p:sp>
        <p:nvSpPr>
          <p:cNvPr id="19" name="Shape 17"/>
          <p:cNvSpPr/>
          <p:nvPr/>
        </p:nvSpPr>
        <p:spPr>
          <a:xfrm>
            <a:off x="457200" y="3246120"/>
            <a:ext cx="1426464" cy="1005840"/>
          </a:xfrm>
          <a:prstGeom prst="roundRect">
            <a:avLst>
              <a:gd name="adj" fmla="val 10909"/>
            </a:avLst>
          </a:prstGeom>
          <a:solidFill>
            <a:srgbClr val="F1EEF7"/>
          </a:solidFill>
          <a:ln w="12700">
            <a:solidFill>
              <a:srgbClr val="F1EEF7"/>
            </a:solidFill>
            <a:prstDash val="solid"/>
          </a:ln>
        </p:spPr>
      </p:sp>
      <p:sp>
        <p:nvSpPr>
          <p:cNvPr id="20" name="Text 18"/>
          <p:cNvSpPr txBox="1"/>
          <p:nvPr/>
        </p:nvSpPr>
        <p:spPr>
          <a:xfrm>
            <a:off x="530352" y="324612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Question</a:t>
            </a:r>
            <a:endParaRPr lang="en-US" sz="1300" dirty="0"/>
          </a:p>
        </p:txBody>
      </p:sp>
      <p:sp>
        <p:nvSpPr>
          <p:cNvPr id="21" name="Text 19"/>
          <p:cNvSpPr txBox="1"/>
          <p:nvPr/>
        </p:nvSpPr>
        <p:spPr>
          <a:xfrm>
            <a:off x="1883664" y="324612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2157984" y="3246120"/>
            <a:ext cx="1426464" cy="1005840"/>
          </a:xfrm>
          <a:prstGeom prst="roundRect">
            <a:avLst>
              <a:gd name="adj" fmla="val 10909"/>
            </a:avLst>
          </a:prstGeom>
          <a:solidFill>
            <a:srgbClr val="F1EEF7"/>
          </a:solidFill>
          <a:ln w="12700">
            <a:solidFill>
              <a:srgbClr val="F1EEF7"/>
            </a:solidFill>
            <a:prstDash val="solid"/>
          </a:ln>
        </p:spPr>
      </p:sp>
      <p:sp>
        <p:nvSpPr>
          <p:cNvPr id="23" name="Text 21"/>
          <p:cNvSpPr txBox="1"/>
          <p:nvPr/>
        </p:nvSpPr>
        <p:spPr>
          <a:xfrm>
            <a:off x="2231136" y="324612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Embedding de la question</a:t>
            </a:r>
            <a:endParaRPr lang="en-US" sz="1300" dirty="0"/>
          </a:p>
        </p:txBody>
      </p:sp>
      <p:sp>
        <p:nvSpPr>
          <p:cNvPr id="24" name="Text 22"/>
          <p:cNvSpPr txBox="1"/>
          <p:nvPr/>
        </p:nvSpPr>
        <p:spPr>
          <a:xfrm>
            <a:off x="3584448" y="324612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3858768" y="3246120"/>
            <a:ext cx="1426464" cy="1005840"/>
          </a:xfrm>
          <a:prstGeom prst="roundRect">
            <a:avLst>
              <a:gd name="adj" fmla="val 10909"/>
            </a:avLst>
          </a:prstGeom>
          <a:solidFill>
            <a:srgbClr val="F1EEF7"/>
          </a:solidFill>
          <a:ln w="12700">
            <a:solidFill>
              <a:srgbClr val="F1EEF7"/>
            </a:solidFill>
            <a:prstDash val="solid"/>
          </a:ln>
        </p:spPr>
      </p:sp>
      <p:sp>
        <p:nvSpPr>
          <p:cNvPr id="26" name="Text 24"/>
          <p:cNvSpPr txBox="1"/>
          <p:nvPr/>
        </p:nvSpPr>
        <p:spPr>
          <a:xfrm>
            <a:off x="3931920" y="324612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Recherche des plus proches</a:t>
            </a:r>
            <a:endParaRPr lang="en-US" sz="1300" dirty="0"/>
          </a:p>
        </p:txBody>
      </p:sp>
      <p:sp>
        <p:nvSpPr>
          <p:cNvPr id="27" name="Text 25"/>
          <p:cNvSpPr txBox="1"/>
          <p:nvPr/>
        </p:nvSpPr>
        <p:spPr>
          <a:xfrm>
            <a:off x="5285232" y="324612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5559552" y="3246120"/>
            <a:ext cx="1426464" cy="1005840"/>
          </a:xfrm>
          <a:prstGeom prst="roundRect">
            <a:avLst>
              <a:gd name="adj" fmla="val 10909"/>
            </a:avLst>
          </a:prstGeom>
          <a:solidFill>
            <a:srgbClr val="F1EEF7"/>
          </a:solidFill>
          <a:ln w="12700">
            <a:solidFill>
              <a:srgbClr val="F1EEF7"/>
            </a:solidFill>
            <a:prstDash val="solid"/>
          </a:ln>
        </p:spPr>
      </p:sp>
      <p:sp>
        <p:nvSpPr>
          <p:cNvPr id="29" name="Text 27"/>
          <p:cNvSpPr txBox="1"/>
          <p:nvPr/>
        </p:nvSpPr>
        <p:spPr>
          <a:xfrm>
            <a:off x="5632704" y="3246120"/>
            <a:ext cx="1280160" cy="1005840"/>
          </a:xfrm>
          <a:prstGeom prst="rect">
            <a:avLst/>
          </a:prstGeom>
          <a:noFill/>
          <a:ln/>
        </p:spPr>
        <p:txBody>
          <a:bodyPr wrap="square" lIns="0" tIns="0" rIns="0" bIns="0" rtlCol="0" anchor="ctr"/>
          <a:lstStyle/>
          <a:p>
            <a:pPr algn="ctr" indent="0" marL="0">
              <a:buNone/>
            </a:pPr>
            <a:r>
              <a:rPr lang="en-US" sz="1300" dirty="0">
                <a:solidFill>
                  <a:srgbClr val="22223B"/>
                </a:solidFill>
                <a:latin typeface="Calibri" pitchFamily="34" charset="0"/>
                <a:ea typeface="Calibri" pitchFamily="34" charset="-122"/>
                <a:cs typeface="Calibri" pitchFamily="34" charset="-120"/>
              </a:rPr>
              <a:t>Prompt : question + passages</a:t>
            </a:r>
            <a:endParaRPr lang="en-US" sz="1300" dirty="0"/>
          </a:p>
        </p:txBody>
      </p:sp>
      <p:sp>
        <p:nvSpPr>
          <p:cNvPr id="30" name="Text 28"/>
          <p:cNvSpPr txBox="1"/>
          <p:nvPr/>
        </p:nvSpPr>
        <p:spPr>
          <a:xfrm>
            <a:off x="6986016" y="3246120"/>
            <a:ext cx="274320" cy="1005840"/>
          </a:xfrm>
          <a:prstGeom prst="rect">
            <a:avLst/>
          </a:prstGeom>
          <a:noFill/>
          <a:ln/>
        </p:spPr>
        <p:txBody>
          <a:bodyPr wrap="square" lIns="0" tIns="0" rIns="0" bIns="0" rtlCol="0" anchor="ctr"/>
          <a:lstStyle/>
          <a:p>
            <a:pPr algn="ctr" indent="0" marL="0">
              <a:buNone/>
            </a:pPr>
            <a:r>
              <a:rPr lang="en-US" sz="1800" dirty="0">
                <a:solidFill>
                  <a:srgbClr val="4A4E69"/>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7260336" y="3246120"/>
            <a:ext cx="1426464" cy="1005840"/>
          </a:xfrm>
          <a:prstGeom prst="roundRect">
            <a:avLst>
              <a:gd name="adj" fmla="val 10909"/>
            </a:avLst>
          </a:prstGeom>
          <a:solidFill>
            <a:srgbClr val="4A4E69"/>
          </a:solidFill>
          <a:ln w="12700">
            <a:solidFill>
              <a:srgbClr val="4A4E69"/>
            </a:solidFill>
            <a:prstDash val="solid"/>
          </a:ln>
        </p:spPr>
      </p:sp>
      <p:sp>
        <p:nvSpPr>
          <p:cNvPr id="32" name="Text 30"/>
          <p:cNvSpPr txBox="1"/>
          <p:nvPr/>
        </p:nvSpPr>
        <p:spPr>
          <a:xfrm>
            <a:off x="7333488" y="3246120"/>
            <a:ext cx="12801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Réponse du LLM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Traduction pour un data analyst</a:t>
            </a:r>
            <a:endParaRPr lang="en-US" sz="3000" dirty="0"/>
          </a:p>
        </p:txBody>
      </p:sp>
      <p:sp>
        <p:nvSpPr>
          <p:cNvPr id="3" name="Shape 1"/>
          <p:cNvSpPr/>
          <p:nvPr/>
        </p:nvSpPr>
        <p:spPr>
          <a:xfrm>
            <a:off x="457200" y="1234440"/>
            <a:ext cx="411480" cy="411480"/>
          </a:xfrm>
          <a:prstGeom prst="ellipse">
            <a:avLst/>
          </a:prstGeom>
          <a:solidFill>
            <a:srgbClr val="E07A5F"/>
          </a:solidFill>
          <a:ln w="12700">
            <a:solidFill>
              <a:srgbClr val="E07A5F"/>
            </a:solidFill>
            <a:prstDash val="solid"/>
          </a:ln>
        </p:spPr>
      </p:sp>
      <p:sp>
        <p:nvSpPr>
          <p:cNvPr id="4" name="Text 2"/>
          <p:cNvSpPr txBox="1"/>
          <p:nvPr/>
        </p:nvSpPr>
        <p:spPr>
          <a:xfrm>
            <a:off x="457200" y="12344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005840" y="1188720"/>
            <a:ext cx="3108960" cy="320040"/>
          </a:xfrm>
          <a:prstGeom prst="rect">
            <a:avLst/>
          </a:prstGeom>
          <a:noFill/>
          <a:ln/>
        </p:spPr>
        <p:txBody>
          <a:bodyPr wrap="square" lIns="0" tIns="0" rIns="0" bIns="0" rtlCol="0" anchor="t"/>
          <a:lstStyle/>
          <a:p>
            <a:pPr indent="0" marL="0">
              <a:buNone/>
            </a:pPr>
            <a:r>
              <a:rPr lang="en-US" sz="1600" b="1" dirty="0">
                <a:solidFill>
                  <a:srgbClr val="22223B"/>
                </a:solidFill>
                <a:latin typeface="Cambria" pitchFamily="34" charset="0"/>
                <a:ea typeface="Cambria" pitchFamily="34" charset="-122"/>
                <a:cs typeface="Cambria" pitchFamily="34" charset="-120"/>
              </a:rPr>
              <a:t>Passage (chunk)</a:t>
            </a:r>
            <a:endParaRPr lang="en-US" sz="1600" dirty="0"/>
          </a:p>
        </p:txBody>
      </p:sp>
      <p:sp>
        <p:nvSpPr>
          <p:cNvPr id="6" name="Text 4"/>
          <p:cNvSpPr txBox="1"/>
          <p:nvPr/>
        </p:nvSpPr>
        <p:spPr>
          <a:xfrm>
            <a:off x="1005840" y="1517904"/>
            <a:ext cx="3108960" cy="320040"/>
          </a:xfrm>
          <a:prstGeom prst="rect">
            <a:avLst/>
          </a:prstGeom>
          <a:noFill/>
          <a:ln/>
        </p:spPr>
        <p:txBody>
          <a:bodyPr wrap="square" lIns="0" tIns="0" rIns="0" bIns="0" rtlCol="0" anchor="t"/>
          <a:lstStyle/>
          <a:p>
            <a:pPr indent="0" marL="0">
              <a:buNone/>
            </a:pPr>
            <a:r>
              <a:rPr lang="en-US" sz="1400" dirty="0">
                <a:solidFill>
                  <a:srgbClr val="4A4E69"/>
                </a:solidFill>
                <a:latin typeface="Calibri" pitchFamily="34" charset="0"/>
                <a:ea typeface="Calibri" pitchFamily="34" charset="-122"/>
                <a:cs typeface="Calibri" pitchFamily="34" charset="-120"/>
              </a:rPr>
              <a:t>une ligne de la table</a:t>
            </a:r>
            <a:endParaRPr lang="en-US" sz="1400" dirty="0"/>
          </a:p>
        </p:txBody>
      </p:sp>
      <p:sp>
        <p:nvSpPr>
          <p:cNvPr id="7" name="Shape 5"/>
          <p:cNvSpPr/>
          <p:nvPr/>
        </p:nvSpPr>
        <p:spPr>
          <a:xfrm>
            <a:off x="457200" y="2057400"/>
            <a:ext cx="411480" cy="411480"/>
          </a:xfrm>
          <a:prstGeom prst="ellipse">
            <a:avLst/>
          </a:prstGeom>
          <a:solidFill>
            <a:srgbClr val="4A4E69"/>
          </a:solidFill>
          <a:ln w="12700">
            <a:solidFill>
              <a:srgbClr val="4A4E69"/>
            </a:solidFill>
            <a:prstDash val="solid"/>
          </a:ln>
        </p:spPr>
      </p:sp>
      <p:sp>
        <p:nvSpPr>
          <p:cNvPr id="8" name="Text 6"/>
          <p:cNvSpPr txBox="1"/>
          <p:nvPr/>
        </p:nvSpPr>
        <p:spPr>
          <a:xfrm>
            <a:off x="457200" y="20574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005840" y="2011680"/>
            <a:ext cx="3108960" cy="320040"/>
          </a:xfrm>
          <a:prstGeom prst="rect">
            <a:avLst/>
          </a:prstGeom>
          <a:noFill/>
          <a:ln/>
        </p:spPr>
        <p:txBody>
          <a:bodyPr wrap="square" lIns="0" tIns="0" rIns="0" bIns="0" rtlCol="0" anchor="t"/>
          <a:lstStyle/>
          <a:p>
            <a:pPr indent="0" marL="0">
              <a:buNone/>
            </a:pPr>
            <a:r>
              <a:rPr lang="en-US" sz="1600" b="1" dirty="0">
                <a:solidFill>
                  <a:srgbClr val="22223B"/>
                </a:solidFill>
                <a:latin typeface="Cambria" pitchFamily="34" charset="0"/>
                <a:ea typeface="Cambria" pitchFamily="34" charset="-122"/>
                <a:cs typeface="Cambria" pitchFamily="34" charset="-120"/>
              </a:rPr>
              <a:t>Embedding</a:t>
            </a:r>
            <a:endParaRPr lang="en-US" sz="1600" dirty="0"/>
          </a:p>
        </p:txBody>
      </p:sp>
      <p:sp>
        <p:nvSpPr>
          <p:cNvPr id="10" name="Text 8"/>
          <p:cNvSpPr txBox="1"/>
          <p:nvPr/>
        </p:nvSpPr>
        <p:spPr>
          <a:xfrm>
            <a:off x="1005840" y="2340864"/>
            <a:ext cx="3108960" cy="320040"/>
          </a:xfrm>
          <a:prstGeom prst="rect">
            <a:avLst/>
          </a:prstGeom>
          <a:noFill/>
          <a:ln/>
        </p:spPr>
        <p:txBody>
          <a:bodyPr wrap="square" lIns="0" tIns="0" rIns="0" bIns="0" rtlCol="0" anchor="t"/>
          <a:lstStyle/>
          <a:p>
            <a:pPr indent="0" marL="0">
              <a:buNone/>
            </a:pPr>
            <a:r>
              <a:rPr lang="en-US" sz="1400" dirty="0">
                <a:solidFill>
                  <a:srgbClr val="4A4E69"/>
                </a:solidFill>
                <a:latin typeface="Calibri" pitchFamily="34" charset="0"/>
                <a:ea typeface="Calibri" pitchFamily="34" charset="-122"/>
                <a:cs typeface="Calibri" pitchFamily="34" charset="-120"/>
              </a:rPr>
              <a:t>une colonne calculée (un vecteur)</a:t>
            </a:r>
            <a:endParaRPr lang="en-US" sz="1400" dirty="0"/>
          </a:p>
        </p:txBody>
      </p:sp>
      <p:sp>
        <p:nvSpPr>
          <p:cNvPr id="11" name="Shape 9"/>
          <p:cNvSpPr/>
          <p:nvPr/>
        </p:nvSpPr>
        <p:spPr>
          <a:xfrm>
            <a:off x="457200" y="2880360"/>
            <a:ext cx="411480" cy="411480"/>
          </a:xfrm>
          <a:prstGeom prst="ellipse">
            <a:avLst/>
          </a:prstGeom>
          <a:solidFill>
            <a:srgbClr val="E07A5F"/>
          </a:solidFill>
          <a:ln w="12700">
            <a:solidFill>
              <a:srgbClr val="E07A5F"/>
            </a:solidFill>
            <a:prstDash val="solid"/>
          </a:ln>
        </p:spPr>
      </p:sp>
      <p:sp>
        <p:nvSpPr>
          <p:cNvPr id="12" name="Text 10"/>
          <p:cNvSpPr txBox="1"/>
          <p:nvPr/>
        </p:nvSpPr>
        <p:spPr>
          <a:xfrm>
            <a:off x="457200" y="28803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005840" y="2834640"/>
            <a:ext cx="3108960" cy="320040"/>
          </a:xfrm>
          <a:prstGeom prst="rect">
            <a:avLst/>
          </a:prstGeom>
          <a:noFill/>
          <a:ln/>
        </p:spPr>
        <p:txBody>
          <a:bodyPr wrap="square" lIns="0" tIns="0" rIns="0" bIns="0" rtlCol="0" anchor="t"/>
          <a:lstStyle/>
          <a:p>
            <a:pPr indent="0" marL="0">
              <a:buNone/>
            </a:pPr>
            <a:r>
              <a:rPr lang="en-US" sz="1600" b="1" dirty="0">
                <a:solidFill>
                  <a:srgbClr val="22223B"/>
                </a:solidFill>
                <a:latin typeface="Cambria" pitchFamily="34" charset="0"/>
                <a:ea typeface="Cambria" pitchFamily="34" charset="-122"/>
                <a:cs typeface="Cambria" pitchFamily="34" charset="-120"/>
              </a:rPr>
              <a:t>Base vectorielle</a:t>
            </a:r>
            <a:endParaRPr lang="en-US" sz="1600" dirty="0"/>
          </a:p>
        </p:txBody>
      </p:sp>
      <p:sp>
        <p:nvSpPr>
          <p:cNvPr id="14" name="Text 12"/>
          <p:cNvSpPr txBox="1"/>
          <p:nvPr/>
        </p:nvSpPr>
        <p:spPr>
          <a:xfrm>
            <a:off x="1005840" y="3163824"/>
            <a:ext cx="3108960" cy="320040"/>
          </a:xfrm>
          <a:prstGeom prst="rect">
            <a:avLst/>
          </a:prstGeom>
          <a:noFill/>
          <a:ln/>
        </p:spPr>
        <p:txBody>
          <a:bodyPr wrap="square" lIns="0" tIns="0" rIns="0" bIns="0" rtlCol="0" anchor="t"/>
          <a:lstStyle/>
          <a:p>
            <a:pPr indent="0" marL="0">
              <a:buNone/>
            </a:pPr>
            <a:r>
              <a:rPr lang="en-US" sz="1400" dirty="0">
                <a:solidFill>
                  <a:srgbClr val="4A4E69"/>
                </a:solidFill>
                <a:latin typeface="Calibri" pitchFamily="34" charset="0"/>
                <a:ea typeface="Calibri" pitchFamily="34" charset="-122"/>
                <a:cs typeface="Calibri" pitchFamily="34" charset="-120"/>
              </a:rPr>
              <a:t>une table indexée pour la proximité</a:t>
            </a:r>
            <a:endParaRPr lang="en-US" sz="1400" dirty="0"/>
          </a:p>
        </p:txBody>
      </p:sp>
      <p:sp>
        <p:nvSpPr>
          <p:cNvPr id="15" name="Shape 13"/>
          <p:cNvSpPr/>
          <p:nvPr/>
        </p:nvSpPr>
        <p:spPr>
          <a:xfrm>
            <a:off x="457200" y="3703320"/>
            <a:ext cx="411480" cy="411480"/>
          </a:xfrm>
          <a:prstGeom prst="ellipse">
            <a:avLst/>
          </a:prstGeom>
          <a:solidFill>
            <a:srgbClr val="4A4E69"/>
          </a:solidFill>
          <a:ln w="12700">
            <a:solidFill>
              <a:srgbClr val="4A4E69"/>
            </a:solidFill>
            <a:prstDash val="solid"/>
          </a:ln>
        </p:spPr>
      </p:sp>
      <p:sp>
        <p:nvSpPr>
          <p:cNvPr id="16" name="Text 14"/>
          <p:cNvSpPr txBox="1"/>
          <p:nvPr/>
        </p:nvSpPr>
        <p:spPr>
          <a:xfrm>
            <a:off x="457200" y="370332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7" name="Text 15"/>
          <p:cNvSpPr txBox="1"/>
          <p:nvPr/>
        </p:nvSpPr>
        <p:spPr>
          <a:xfrm>
            <a:off x="1005840" y="3657600"/>
            <a:ext cx="3108960" cy="320040"/>
          </a:xfrm>
          <a:prstGeom prst="rect">
            <a:avLst/>
          </a:prstGeom>
          <a:noFill/>
          <a:ln/>
        </p:spPr>
        <p:txBody>
          <a:bodyPr wrap="square" lIns="0" tIns="0" rIns="0" bIns="0" rtlCol="0" anchor="t"/>
          <a:lstStyle/>
          <a:p>
            <a:pPr indent="0" marL="0">
              <a:buNone/>
            </a:pPr>
            <a:r>
              <a:rPr lang="en-US" sz="1600" b="1" dirty="0">
                <a:solidFill>
                  <a:srgbClr val="22223B"/>
                </a:solidFill>
                <a:latin typeface="Cambria" pitchFamily="34" charset="0"/>
                <a:ea typeface="Cambria" pitchFamily="34" charset="-122"/>
                <a:cs typeface="Cambria" pitchFamily="34" charset="-120"/>
              </a:rPr>
              <a:t>Recherche</a:t>
            </a:r>
            <a:endParaRPr lang="en-US" sz="1600" dirty="0"/>
          </a:p>
        </p:txBody>
      </p:sp>
      <p:sp>
        <p:nvSpPr>
          <p:cNvPr id="18" name="Text 16"/>
          <p:cNvSpPr txBox="1"/>
          <p:nvPr/>
        </p:nvSpPr>
        <p:spPr>
          <a:xfrm>
            <a:off x="1005840" y="3986784"/>
            <a:ext cx="3108960" cy="320040"/>
          </a:xfrm>
          <a:prstGeom prst="rect">
            <a:avLst/>
          </a:prstGeom>
          <a:noFill/>
          <a:ln/>
        </p:spPr>
        <p:txBody>
          <a:bodyPr wrap="square" lIns="0" tIns="0" rIns="0" bIns="0" rtlCol="0" anchor="t"/>
          <a:lstStyle/>
          <a:p>
            <a:pPr indent="0" marL="0">
              <a:buNone/>
            </a:pPr>
            <a:r>
              <a:rPr lang="en-US" sz="1400" dirty="0">
                <a:solidFill>
                  <a:srgbClr val="4A4E69"/>
                </a:solidFill>
                <a:latin typeface="Calibri" pitchFamily="34" charset="0"/>
                <a:ea typeface="Calibri" pitchFamily="34" charset="-122"/>
                <a:cs typeface="Calibri" pitchFamily="34" charset="-120"/>
              </a:rPr>
              <a:t>un TOP k trié par similarité</a:t>
            </a:r>
            <a:endParaRPr lang="en-US" sz="1400" dirty="0"/>
          </a:p>
        </p:txBody>
      </p:sp>
      <p:sp>
        <p:nvSpPr>
          <p:cNvPr id="19" name="Shape 17"/>
          <p:cNvSpPr/>
          <p:nvPr/>
        </p:nvSpPr>
        <p:spPr>
          <a:xfrm>
            <a:off x="4480560" y="1280160"/>
            <a:ext cx="4206240" cy="2286000"/>
          </a:xfrm>
          <a:prstGeom prst="roundRect">
            <a:avLst>
              <a:gd name="adj" fmla="val 4800"/>
            </a:avLst>
          </a:prstGeom>
          <a:solidFill>
            <a:srgbClr val="22223B"/>
          </a:solidFill>
          <a:ln w="12700">
            <a:solidFill>
              <a:srgbClr val="22223B"/>
            </a:solidFill>
            <a:prstDash val="solid"/>
          </a:ln>
        </p:spPr>
      </p:sp>
      <p:sp>
        <p:nvSpPr>
          <p:cNvPr id="20" name="Text 18"/>
          <p:cNvSpPr txBox="1"/>
          <p:nvPr/>
        </p:nvSpPr>
        <p:spPr>
          <a:xfrm>
            <a:off x="4754880" y="1508760"/>
            <a:ext cx="3749040" cy="1920240"/>
          </a:xfrm>
          <a:prstGeom prst="rect">
            <a:avLst/>
          </a:prstGeom>
          <a:noFill/>
          <a:ln/>
        </p:spPr>
        <p:txBody>
          <a:bodyPr wrap="square" lIns="0" tIns="0" rIns="0" bIns="0" rtlCol="0" anchor="t"/>
          <a:lstStyle/>
          <a:p>
            <a:pPr indent="0" marL="0">
              <a:buNone/>
            </a:pPr>
            <a:r>
              <a:rPr lang="en-US" sz="1600" dirty="0">
                <a:solidFill>
                  <a:srgbClr val="F2CC8F"/>
                </a:solidFill>
                <a:latin typeface="Courier New" pitchFamily="34" charset="0"/>
                <a:ea typeface="Courier New" pitchFamily="34" charset="-122"/>
                <a:cs typeface="Courier New" pitchFamily="34" charset="-120"/>
              </a:rPr>
              <a:t>SELECT TOP 5 texte</a:t>
            </a:r>
            <a:endParaRPr lang="en-US" sz="1600" dirty="0"/>
          </a:p>
          <a:p>
            <a:pPr indent="0" marL="0">
              <a:buNone/>
            </a:pPr>
            <a:r>
              <a:rPr lang="en-US" sz="1600" dirty="0">
                <a:solidFill>
                  <a:srgbClr val="F2CC8F"/>
                </a:solidFill>
                <a:latin typeface="Courier New" pitchFamily="34" charset="0"/>
                <a:ea typeface="Courier New" pitchFamily="34" charset="-122"/>
                <a:cs typeface="Courier New" pitchFamily="34" charset="-120"/>
              </a:rPr>
              <a:t>FROM passages</a:t>
            </a:r>
            <a:endParaRPr lang="en-US" sz="1600" dirty="0"/>
          </a:p>
          <a:p>
            <a:pPr indent="0" marL="0">
              <a:buNone/>
            </a:pPr>
            <a:r>
              <a:rPr lang="en-US" sz="1600" dirty="0">
                <a:solidFill>
                  <a:srgbClr val="F2CC8F"/>
                </a:solidFill>
                <a:latin typeface="Courier New" pitchFamily="34" charset="0"/>
                <a:ea typeface="Courier New" pitchFamily="34" charset="-122"/>
                <a:cs typeface="Courier New" pitchFamily="34" charset="-120"/>
              </a:rPr>
              <a:t>ORDER BY similarite(</a:t>
            </a:r>
            <a:endParaRPr lang="en-US" sz="1600" dirty="0"/>
          </a:p>
          <a:p>
            <a:pPr indent="0" marL="0">
              <a:buNone/>
            </a:pPr>
            <a:r>
              <a:rPr lang="en-US" sz="1600" dirty="0">
                <a:solidFill>
                  <a:srgbClr val="F2CC8F"/>
                </a:solidFill>
                <a:latin typeface="Courier New" pitchFamily="34" charset="0"/>
                <a:ea typeface="Courier New" pitchFamily="34" charset="-122"/>
                <a:cs typeface="Courier New" pitchFamily="34" charset="-120"/>
              </a:rPr>
              <a:t>    embedding, :question</a:t>
            </a:r>
            <a:endParaRPr lang="en-US" sz="1600" dirty="0"/>
          </a:p>
          <a:p>
            <a:pPr indent="0" marL="0">
              <a:buNone/>
            </a:pPr>
            <a:r>
              <a:rPr lang="en-US" sz="1600" dirty="0">
                <a:solidFill>
                  <a:srgbClr val="F2CC8F"/>
                </a:solidFill>
                <a:latin typeface="Courier New" pitchFamily="34" charset="0"/>
                <a:ea typeface="Courier New" pitchFamily="34" charset="-122"/>
                <a:cs typeface="Courier New" pitchFamily="34" charset="-120"/>
              </a:rPr>
              <a:t>) DESC;</a:t>
            </a:r>
            <a:endParaRPr lang="en-US" sz="1600" dirty="0"/>
          </a:p>
        </p:txBody>
      </p:sp>
      <p:sp>
        <p:nvSpPr>
          <p:cNvPr id="21" name="Text 19"/>
          <p:cNvSpPr txBox="1"/>
          <p:nvPr/>
        </p:nvSpPr>
        <p:spPr>
          <a:xfrm>
            <a:off x="4480560" y="3749040"/>
            <a:ext cx="4206240" cy="640080"/>
          </a:xfrm>
          <a:prstGeom prst="rect">
            <a:avLst/>
          </a:prstGeom>
          <a:noFill/>
          <a:ln/>
        </p:spPr>
        <p:txBody>
          <a:bodyPr wrap="square" lIns="0" tIns="0" rIns="0" bIns="0" rtlCol="0" anchor="t"/>
          <a:lstStyle/>
          <a:p>
            <a:pPr indent="0" marL="0">
              <a:buNone/>
            </a:pPr>
            <a:r>
              <a:rPr lang="en-US" sz="1200" i="1" dirty="0">
                <a:solidFill>
                  <a:srgbClr val="6B6E80"/>
                </a:solidFill>
                <a:latin typeface="Calibri" pitchFamily="34" charset="0"/>
                <a:ea typeface="Calibri" pitchFamily="34" charset="-122"/>
                <a:cs typeface="Calibri" pitchFamily="34" charset="-120"/>
              </a:rPr>
              <a:t>Pseudo-SQL : aucune base ne s'écrit exactement ainsi, mais c'est bien la logique d'une recherche vectorielle.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22223B"/>
                </a:solidFill>
                <a:latin typeface="Cambria" pitchFamily="34" charset="0"/>
                <a:ea typeface="Cambria" pitchFamily="34" charset="-122"/>
                <a:cs typeface="Cambria" pitchFamily="34" charset="-120"/>
              </a:rPr>
              <a:t>Pourquoi l'ETL décide de tout</a:t>
            </a:r>
            <a:endParaRPr lang="en-US" sz="3000" dirty="0"/>
          </a:p>
        </p:txBody>
      </p:sp>
      <p:sp>
        <p:nvSpPr>
          <p:cNvPr id="3" name="Shape 1"/>
          <p:cNvSpPr/>
          <p:nvPr/>
        </p:nvSpPr>
        <p:spPr>
          <a:xfrm>
            <a:off x="457200" y="1188720"/>
            <a:ext cx="2560320" cy="2011680"/>
          </a:xfrm>
          <a:prstGeom prst="roundRect">
            <a:avLst>
              <a:gd name="adj" fmla="val 5455"/>
            </a:avLst>
          </a:prstGeom>
          <a:solidFill>
            <a:srgbClr val="F1EEF7"/>
          </a:solidFill>
          <a:ln w="12700">
            <a:solidFill>
              <a:srgbClr val="F1EEF7"/>
            </a:solidFill>
            <a:prstDash val="solid"/>
          </a:ln>
        </p:spPr>
      </p:sp>
      <p:sp>
        <p:nvSpPr>
          <p:cNvPr id="4" name="Shape 2"/>
          <p:cNvSpPr/>
          <p:nvPr/>
        </p:nvSpPr>
        <p:spPr>
          <a:xfrm>
            <a:off x="731520" y="1371600"/>
            <a:ext cx="411480" cy="411480"/>
          </a:xfrm>
          <a:prstGeom prst="ellipse">
            <a:avLst/>
          </a:prstGeom>
          <a:solidFill>
            <a:srgbClr val="E07A5F"/>
          </a:solidFill>
          <a:ln w="12700">
            <a:solidFill>
              <a:srgbClr val="E07A5F"/>
            </a:solidFill>
            <a:prstDash val="solid"/>
          </a:ln>
        </p:spPr>
      </p:sp>
      <p:sp>
        <p:nvSpPr>
          <p:cNvPr id="5" name="Text 3"/>
          <p:cNvSpPr txBox="1"/>
          <p:nvPr/>
        </p:nvSpPr>
        <p:spPr>
          <a:xfrm>
            <a:off x="731520" y="13716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6" name="Text 4"/>
          <p:cNvSpPr txBox="1"/>
          <p:nvPr/>
        </p:nvSpPr>
        <p:spPr>
          <a:xfrm>
            <a:off x="1280160" y="1399032"/>
            <a:ext cx="1645920" cy="365760"/>
          </a:xfrm>
          <a:prstGeom prst="rect">
            <a:avLst/>
          </a:prstGeom>
          <a:noFill/>
          <a:ln/>
        </p:spPr>
        <p:txBody>
          <a:bodyPr wrap="square" lIns="0" tIns="0" rIns="0" bIns="0" rtlCol="0" anchor="t"/>
          <a:lstStyle/>
          <a:p>
            <a:pPr indent="0" marL="0">
              <a:buNone/>
            </a:pPr>
            <a:r>
              <a:rPr lang="en-US" sz="1700" b="1" dirty="0">
                <a:solidFill>
                  <a:srgbClr val="22223B"/>
                </a:solidFill>
                <a:latin typeface="Cambria" pitchFamily="34" charset="0"/>
                <a:ea typeface="Cambria" pitchFamily="34" charset="-122"/>
                <a:cs typeface="Cambria" pitchFamily="34" charset="-120"/>
              </a:rPr>
              <a:t>OCR raté</a:t>
            </a:r>
            <a:endParaRPr lang="en-US" sz="1700" dirty="0"/>
          </a:p>
        </p:txBody>
      </p:sp>
      <p:sp>
        <p:nvSpPr>
          <p:cNvPr id="7" name="Text 5"/>
          <p:cNvSpPr txBox="1"/>
          <p:nvPr/>
        </p:nvSpPr>
        <p:spPr>
          <a:xfrm>
            <a:off x="731520" y="196596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Texte illisible ou mélangé : le passage existe, mais on ne le retrouvera jamais.</a:t>
            </a:r>
            <a:endParaRPr lang="en-US" sz="1400" dirty="0"/>
          </a:p>
        </p:txBody>
      </p:sp>
      <p:sp>
        <p:nvSpPr>
          <p:cNvPr id="8" name="Shape 6"/>
          <p:cNvSpPr/>
          <p:nvPr/>
        </p:nvSpPr>
        <p:spPr>
          <a:xfrm>
            <a:off x="3291840" y="1188720"/>
            <a:ext cx="2560320" cy="2011680"/>
          </a:xfrm>
          <a:prstGeom prst="roundRect">
            <a:avLst>
              <a:gd name="adj" fmla="val 5455"/>
            </a:avLst>
          </a:prstGeom>
          <a:solidFill>
            <a:srgbClr val="F1EEF7"/>
          </a:solidFill>
          <a:ln w="12700">
            <a:solidFill>
              <a:srgbClr val="F1EEF7"/>
            </a:solidFill>
            <a:prstDash val="solid"/>
          </a:ln>
        </p:spPr>
      </p:sp>
      <p:sp>
        <p:nvSpPr>
          <p:cNvPr id="9" name="Shape 7"/>
          <p:cNvSpPr/>
          <p:nvPr/>
        </p:nvSpPr>
        <p:spPr>
          <a:xfrm>
            <a:off x="3566160" y="1371600"/>
            <a:ext cx="411480" cy="411480"/>
          </a:xfrm>
          <a:prstGeom prst="ellipse">
            <a:avLst/>
          </a:prstGeom>
          <a:solidFill>
            <a:srgbClr val="E07A5F"/>
          </a:solidFill>
          <a:ln w="12700">
            <a:solidFill>
              <a:srgbClr val="E07A5F"/>
            </a:solidFill>
            <a:prstDash val="solid"/>
          </a:ln>
        </p:spPr>
      </p:sp>
      <p:sp>
        <p:nvSpPr>
          <p:cNvPr id="10" name="Text 8"/>
          <p:cNvSpPr txBox="1"/>
          <p:nvPr/>
        </p:nvSpPr>
        <p:spPr>
          <a:xfrm>
            <a:off x="3566160" y="13716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1" name="Text 9"/>
          <p:cNvSpPr txBox="1"/>
          <p:nvPr/>
        </p:nvSpPr>
        <p:spPr>
          <a:xfrm>
            <a:off x="4114800" y="1399032"/>
            <a:ext cx="1645920" cy="365760"/>
          </a:xfrm>
          <a:prstGeom prst="rect">
            <a:avLst/>
          </a:prstGeom>
          <a:noFill/>
          <a:ln/>
        </p:spPr>
        <p:txBody>
          <a:bodyPr wrap="square" lIns="0" tIns="0" rIns="0" bIns="0" rtlCol="0" anchor="t"/>
          <a:lstStyle/>
          <a:p>
            <a:pPr indent="0" marL="0">
              <a:buNone/>
            </a:pPr>
            <a:r>
              <a:rPr lang="en-US" sz="1700" b="1" dirty="0">
                <a:solidFill>
                  <a:srgbClr val="22223B"/>
                </a:solidFill>
                <a:latin typeface="Cambria" pitchFamily="34" charset="0"/>
                <a:ea typeface="Cambria" pitchFamily="34" charset="-122"/>
                <a:cs typeface="Cambria" pitchFamily="34" charset="-120"/>
              </a:rPr>
              <a:t>Découpage raté</a:t>
            </a:r>
            <a:endParaRPr lang="en-US" sz="1700" dirty="0"/>
          </a:p>
        </p:txBody>
      </p:sp>
      <p:sp>
        <p:nvSpPr>
          <p:cNvPr id="12" name="Text 10"/>
          <p:cNvSpPr txBox="1"/>
          <p:nvPr/>
        </p:nvSpPr>
        <p:spPr>
          <a:xfrm>
            <a:off x="3566160" y="196596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Trop petit, le passage perd son contexte. Trop gros, la réponse est noyée.</a:t>
            </a:r>
            <a:endParaRPr lang="en-US" sz="1400" dirty="0"/>
          </a:p>
        </p:txBody>
      </p:sp>
      <p:sp>
        <p:nvSpPr>
          <p:cNvPr id="13" name="Shape 11"/>
          <p:cNvSpPr/>
          <p:nvPr/>
        </p:nvSpPr>
        <p:spPr>
          <a:xfrm>
            <a:off x="6126480" y="1188720"/>
            <a:ext cx="2560320" cy="2011680"/>
          </a:xfrm>
          <a:prstGeom prst="roundRect">
            <a:avLst>
              <a:gd name="adj" fmla="val 5455"/>
            </a:avLst>
          </a:prstGeom>
          <a:solidFill>
            <a:srgbClr val="F1EEF7"/>
          </a:solidFill>
          <a:ln w="12700">
            <a:solidFill>
              <a:srgbClr val="F1EEF7"/>
            </a:solidFill>
            <a:prstDash val="solid"/>
          </a:ln>
        </p:spPr>
      </p:sp>
      <p:sp>
        <p:nvSpPr>
          <p:cNvPr id="14" name="Shape 12"/>
          <p:cNvSpPr/>
          <p:nvPr/>
        </p:nvSpPr>
        <p:spPr>
          <a:xfrm>
            <a:off x="6400800" y="1371600"/>
            <a:ext cx="411480" cy="411480"/>
          </a:xfrm>
          <a:prstGeom prst="ellipse">
            <a:avLst/>
          </a:prstGeom>
          <a:solidFill>
            <a:srgbClr val="E07A5F"/>
          </a:solidFill>
          <a:ln w="12700">
            <a:solidFill>
              <a:srgbClr val="E07A5F"/>
            </a:solidFill>
            <a:prstDash val="solid"/>
          </a:ln>
        </p:spPr>
      </p:sp>
      <p:sp>
        <p:nvSpPr>
          <p:cNvPr id="15" name="Text 13"/>
          <p:cNvSpPr txBox="1"/>
          <p:nvPr/>
        </p:nvSpPr>
        <p:spPr>
          <a:xfrm>
            <a:off x="6400800" y="13716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t>
            </a:r>
            <a:endParaRPr lang="en-US" sz="1800" dirty="0"/>
          </a:p>
        </p:txBody>
      </p:sp>
      <p:sp>
        <p:nvSpPr>
          <p:cNvPr id="16" name="Text 14"/>
          <p:cNvSpPr txBox="1"/>
          <p:nvPr/>
        </p:nvSpPr>
        <p:spPr>
          <a:xfrm>
            <a:off x="6949440" y="1399032"/>
            <a:ext cx="1645920" cy="365760"/>
          </a:xfrm>
          <a:prstGeom prst="rect">
            <a:avLst/>
          </a:prstGeom>
          <a:noFill/>
          <a:ln/>
        </p:spPr>
        <p:txBody>
          <a:bodyPr wrap="square" lIns="0" tIns="0" rIns="0" bIns="0" rtlCol="0" anchor="t"/>
          <a:lstStyle/>
          <a:p>
            <a:pPr indent="0" marL="0">
              <a:buNone/>
            </a:pPr>
            <a:r>
              <a:rPr lang="en-US" sz="1700" b="1" dirty="0">
                <a:solidFill>
                  <a:srgbClr val="22223B"/>
                </a:solidFill>
                <a:latin typeface="Cambria" pitchFamily="34" charset="0"/>
                <a:ea typeface="Cambria" pitchFamily="34" charset="-122"/>
                <a:cs typeface="Cambria" pitchFamily="34" charset="-120"/>
              </a:rPr>
              <a:t>Recherche ratée</a:t>
            </a:r>
            <a:endParaRPr lang="en-US" sz="1700" dirty="0"/>
          </a:p>
        </p:txBody>
      </p:sp>
      <p:sp>
        <p:nvSpPr>
          <p:cNvPr id="17" name="Text 15"/>
          <p:cNvSpPr txBox="1"/>
          <p:nvPr/>
        </p:nvSpPr>
        <p:spPr>
          <a:xfrm>
            <a:off x="6400800" y="1965960"/>
            <a:ext cx="2103120" cy="1143000"/>
          </a:xfrm>
          <a:prstGeom prst="rect">
            <a:avLst/>
          </a:prstGeom>
          <a:noFill/>
          <a:ln/>
        </p:spPr>
        <p:txBody>
          <a:bodyPr wrap="square" lIns="0" tIns="0" rIns="0" bIns="0" rtlCol="0" anchor="t"/>
          <a:lstStyle/>
          <a:p>
            <a:pPr indent="0" marL="0">
              <a:buNone/>
            </a:pPr>
            <a:r>
              <a:rPr lang="en-US" sz="1400" dirty="0">
                <a:solidFill>
                  <a:srgbClr val="22223B"/>
                </a:solidFill>
                <a:latin typeface="Calibri" pitchFamily="34" charset="0"/>
                <a:ea typeface="Calibri" pitchFamily="34" charset="-122"/>
                <a:cs typeface="Calibri" pitchFamily="34" charset="-120"/>
              </a:rPr>
              <a:t>Le LLM répond quand même, avec aplomb, à partir de ce qu'on lui a donné.</a:t>
            </a:r>
            <a:endParaRPr lang="en-US" sz="1400" dirty="0"/>
          </a:p>
        </p:txBody>
      </p:sp>
      <p:sp>
        <p:nvSpPr>
          <p:cNvPr id="18" name="Shape 16"/>
          <p:cNvSpPr/>
          <p:nvPr/>
        </p:nvSpPr>
        <p:spPr>
          <a:xfrm>
            <a:off x="457200" y="3520440"/>
            <a:ext cx="8229600" cy="960120"/>
          </a:xfrm>
          <a:prstGeom prst="roundRect">
            <a:avLst>
              <a:gd name="adj" fmla="val 11429"/>
            </a:avLst>
          </a:prstGeom>
          <a:solidFill>
            <a:srgbClr val="22223B"/>
          </a:solidFill>
          <a:ln w="12700">
            <a:solidFill>
              <a:srgbClr val="22223B"/>
            </a:solidFill>
            <a:prstDash val="solid"/>
          </a:ln>
        </p:spPr>
      </p:sp>
      <p:sp>
        <p:nvSpPr>
          <p:cNvPr id="19" name="Text 17"/>
          <p:cNvSpPr txBox="1"/>
          <p:nvPr/>
        </p:nvSpPr>
        <p:spPr>
          <a:xfrm>
            <a:off x="731520" y="3520440"/>
            <a:ext cx="7680960" cy="960120"/>
          </a:xfrm>
          <a:prstGeom prst="rect">
            <a:avLst/>
          </a:prstGeom>
          <a:noFill/>
          <a:ln/>
        </p:spPr>
        <p:txBody>
          <a:bodyPr wrap="square" lIns="0" tIns="0" rIns="0" bIns="0" rtlCol="0" anchor="ctr"/>
          <a:lstStyle/>
          <a:p>
            <a:pPr indent="0" marL="0">
              <a:buNone/>
            </a:pPr>
            <a:r>
              <a:rPr lang="en-US" sz="1700" b="1" dirty="0">
                <a:solidFill>
                  <a:srgbClr val="F2CC8F"/>
                </a:solidFill>
                <a:latin typeface="Calibri" pitchFamily="34" charset="0"/>
                <a:ea typeface="Calibri" pitchFamily="34" charset="-122"/>
                <a:cs typeface="Calibri" pitchFamily="34" charset="-120"/>
              </a:rPr>
              <a:t>Garbage in, garbage out. </a:t>
            </a:r>
            <a:pPr indent="0" marL="0">
              <a:buNone/>
            </a:pPr>
            <a:r>
              <a:rPr lang="en-US" sz="1700" dirty="0">
                <a:solidFill>
                  <a:srgbClr val="FFFFFF"/>
                </a:solidFill>
                <a:latin typeface="Calibri" pitchFamily="34" charset="0"/>
                <a:ea typeface="Calibri" pitchFamily="34" charset="-122"/>
                <a:cs typeface="Calibri" pitchFamily="34" charset="-120"/>
              </a:rPr>
              <a:t>Le modèle ne répond jamais mieux que les passages qu'on lui donne.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2223B"/>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À retenir</a:t>
            </a:r>
            <a:endParaRPr lang="en-US" sz="3000" dirty="0"/>
          </a:p>
        </p:txBody>
      </p:sp>
      <p:sp>
        <p:nvSpPr>
          <p:cNvPr id="3" name="Shape 1"/>
          <p:cNvSpPr/>
          <p:nvPr/>
        </p:nvSpPr>
        <p:spPr>
          <a:xfrm>
            <a:off x="548640" y="1280160"/>
            <a:ext cx="548640" cy="548640"/>
          </a:xfrm>
          <a:prstGeom prst="ellipse">
            <a:avLst/>
          </a:prstGeom>
          <a:solidFill>
            <a:srgbClr val="E07A5F"/>
          </a:solidFill>
          <a:ln w="12700">
            <a:solidFill>
              <a:srgbClr val="E07A5F"/>
            </a:solidFill>
            <a:prstDash val="solid"/>
          </a:ln>
        </p:spPr>
      </p:sp>
      <p:sp>
        <p:nvSpPr>
          <p:cNvPr id="4" name="Text 2"/>
          <p:cNvSpPr txBox="1"/>
          <p:nvPr/>
        </p:nvSpPr>
        <p:spPr>
          <a:xfrm>
            <a:off x="548640" y="1280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5" name="Text 3"/>
          <p:cNvSpPr txBox="1"/>
          <p:nvPr/>
        </p:nvSpPr>
        <p:spPr>
          <a:xfrm>
            <a:off x="1371600" y="1261872"/>
            <a:ext cx="68580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RAG</a:t>
            </a:r>
            <a:endParaRPr lang="en-US" sz="2000" dirty="0"/>
          </a:p>
        </p:txBody>
      </p:sp>
      <p:sp>
        <p:nvSpPr>
          <p:cNvPr id="6" name="Text 4"/>
          <p:cNvSpPr txBox="1"/>
          <p:nvPr/>
        </p:nvSpPr>
        <p:spPr>
          <a:xfrm>
            <a:off x="1371600" y="1645920"/>
            <a:ext cx="7132320" cy="365760"/>
          </a:xfrm>
          <a:prstGeom prst="rect">
            <a:avLst/>
          </a:prstGeom>
          <a:noFill/>
          <a:ln/>
        </p:spPr>
        <p:txBody>
          <a:bodyPr wrap="square" lIns="0" tIns="0" rIns="0" bIns="0" rtlCol="0" anchor="t"/>
          <a:lstStyle/>
          <a:p>
            <a:pPr indent="0" marL="0">
              <a:buNone/>
            </a:pPr>
            <a:r>
              <a:rPr lang="en-US" sz="1500" dirty="0">
                <a:solidFill>
                  <a:srgbClr val="D0D0E0"/>
                </a:solidFill>
                <a:latin typeface="Calibri" pitchFamily="34" charset="0"/>
                <a:ea typeface="Calibri" pitchFamily="34" charset="-122"/>
                <a:cs typeface="Calibri" pitchFamily="34" charset="-120"/>
              </a:rPr>
              <a:t>Chercher les bons passages, les coller dans la question, laisser le modèle répondre.</a:t>
            </a:r>
            <a:endParaRPr lang="en-US" sz="1500" dirty="0"/>
          </a:p>
        </p:txBody>
      </p:sp>
      <p:sp>
        <p:nvSpPr>
          <p:cNvPr id="7" name="Shape 5"/>
          <p:cNvSpPr/>
          <p:nvPr/>
        </p:nvSpPr>
        <p:spPr>
          <a:xfrm>
            <a:off x="548640" y="2377440"/>
            <a:ext cx="548640" cy="548640"/>
          </a:xfrm>
          <a:prstGeom prst="ellipse">
            <a:avLst/>
          </a:prstGeom>
          <a:solidFill>
            <a:srgbClr val="81B29A"/>
          </a:solidFill>
          <a:ln w="12700">
            <a:solidFill>
              <a:srgbClr val="81B29A"/>
            </a:solidFill>
            <a:prstDash val="solid"/>
          </a:ln>
        </p:spPr>
      </p:sp>
      <p:sp>
        <p:nvSpPr>
          <p:cNvPr id="8" name="Text 6"/>
          <p:cNvSpPr txBox="1"/>
          <p:nvPr/>
        </p:nvSpPr>
        <p:spPr>
          <a:xfrm>
            <a:off x="54864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txBox="1"/>
          <p:nvPr/>
        </p:nvSpPr>
        <p:spPr>
          <a:xfrm>
            <a:off x="1371600" y="2359152"/>
            <a:ext cx="68580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Embedding</a:t>
            </a:r>
            <a:endParaRPr lang="en-US" sz="2000" dirty="0"/>
          </a:p>
        </p:txBody>
      </p:sp>
      <p:sp>
        <p:nvSpPr>
          <p:cNvPr id="10" name="Text 8"/>
          <p:cNvSpPr txBox="1"/>
          <p:nvPr/>
        </p:nvSpPr>
        <p:spPr>
          <a:xfrm>
            <a:off x="1371600" y="2743200"/>
            <a:ext cx="7132320" cy="365760"/>
          </a:xfrm>
          <a:prstGeom prst="rect">
            <a:avLst/>
          </a:prstGeom>
          <a:noFill/>
          <a:ln/>
        </p:spPr>
        <p:txBody>
          <a:bodyPr wrap="square" lIns="0" tIns="0" rIns="0" bIns="0" rtlCol="0" anchor="t"/>
          <a:lstStyle/>
          <a:p>
            <a:pPr indent="0" marL="0">
              <a:buNone/>
            </a:pPr>
            <a:r>
              <a:rPr lang="en-US" sz="1500" dirty="0">
                <a:solidFill>
                  <a:srgbClr val="D0D0E0"/>
                </a:solidFill>
                <a:latin typeface="Calibri" pitchFamily="34" charset="0"/>
                <a:ea typeface="Calibri" pitchFamily="34" charset="-122"/>
                <a:cs typeface="Calibri" pitchFamily="34" charset="-120"/>
              </a:rPr>
              <a:t>Des coordonnées pour le sens : textes proches, vecteurs proches.</a:t>
            </a:r>
            <a:endParaRPr lang="en-US" sz="1500" dirty="0"/>
          </a:p>
        </p:txBody>
      </p:sp>
      <p:sp>
        <p:nvSpPr>
          <p:cNvPr id="11" name="Shape 9"/>
          <p:cNvSpPr/>
          <p:nvPr/>
        </p:nvSpPr>
        <p:spPr>
          <a:xfrm>
            <a:off x="548640" y="3474720"/>
            <a:ext cx="548640" cy="548640"/>
          </a:xfrm>
          <a:prstGeom prst="ellipse">
            <a:avLst/>
          </a:prstGeom>
          <a:solidFill>
            <a:srgbClr val="F2CC8F"/>
          </a:solidFill>
          <a:ln w="12700">
            <a:solidFill>
              <a:srgbClr val="F2CC8F"/>
            </a:solidFill>
            <a:prstDash val="solid"/>
          </a:ln>
        </p:spPr>
      </p:sp>
      <p:sp>
        <p:nvSpPr>
          <p:cNvPr id="12" name="Text 10"/>
          <p:cNvSpPr txBox="1"/>
          <p:nvPr/>
        </p:nvSpPr>
        <p:spPr>
          <a:xfrm>
            <a:off x="548640" y="34747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3" name="Text 11"/>
          <p:cNvSpPr txBox="1"/>
          <p:nvPr/>
        </p:nvSpPr>
        <p:spPr>
          <a:xfrm>
            <a:off x="1371600" y="3456432"/>
            <a:ext cx="68580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Qualité</a:t>
            </a:r>
            <a:endParaRPr lang="en-US" sz="2000" dirty="0"/>
          </a:p>
        </p:txBody>
      </p:sp>
      <p:sp>
        <p:nvSpPr>
          <p:cNvPr id="14" name="Text 12"/>
          <p:cNvSpPr txBox="1"/>
          <p:nvPr/>
        </p:nvSpPr>
        <p:spPr>
          <a:xfrm>
            <a:off x="1371600" y="3840480"/>
            <a:ext cx="7132320" cy="365760"/>
          </a:xfrm>
          <a:prstGeom prst="rect">
            <a:avLst/>
          </a:prstGeom>
          <a:noFill/>
          <a:ln/>
        </p:spPr>
        <p:txBody>
          <a:bodyPr wrap="square" lIns="0" tIns="0" rIns="0" bIns="0" rtlCol="0" anchor="t"/>
          <a:lstStyle/>
          <a:p>
            <a:pPr indent="0" marL="0">
              <a:buNone/>
            </a:pPr>
            <a:r>
              <a:rPr lang="en-US" sz="1500" dirty="0">
                <a:solidFill>
                  <a:srgbClr val="D0D0E0"/>
                </a:solidFill>
                <a:latin typeface="Calibri" pitchFamily="34" charset="0"/>
                <a:ea typeface="Calibri" pitchFamily="34" charset="-122"/>
                <a:cs typeface="Calibri" pitchFamily="34" charset="-120"/>
              </a:rPr>
              <a:t>Tout se joue à l'ingestion : extraction, découpage, embeddings.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 RAG, un copier-coller intelligent</dc:title>
  <dc:subject>PptxGenJS Presentation</dc:subject>
  <dc:creator>PptxGenJS</dc:creator>
  <cp:lastModifiedBy>PptxGenJS</cp:lastModifiedBy>
  <cp:revision>1</cp:revision>
  <dcterms:created xsi:type="dcterms:W3CDTF">2026-09-28T20:11:03Z</dcterms:created>
  <dcterms:modified xsi:type="dcterms:W3CDTF">2026-09-28T20:11:03Z</dcterms:modified>
</cp:coreProperties>
</file>